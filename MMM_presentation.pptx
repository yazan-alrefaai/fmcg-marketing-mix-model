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052bd57c-9e33-34f0-7f4d-3a8e8f165c43}">
          <p14:sldIdLst>
            <p14:sldId id="256"/>
            <p14:sldId id="257"/>
            <p14:sldId id="258"/>
            <p14:sldId id="259"/>
            <p14:sldId id="260"/>
            <p14:sldId id="261"/>
            <p14:sldId id="262"/>
            <p14:sldId id="263"/>
            <p14:sldId id="264"/>
          </p14:sldIdLst>
        </p14:section>
        <p14:section name="Appendix" id="{ed38212c-230e-f2cf-1ec4-231b84fb3923}">
          <p14:sldIdLst>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0B3C49"/>
                </a:solidFill>
                <a:latin typeface="+mn-lt"/>
              </a:defRPr>
            </a:pPr>
            <a:r>
              <a:rPr sz="1300" b="0" i="0" u="none" strike="noStrike">
                <a:solidFill>
                  <a:srgbClr val="0B3C49"/>
                </a:solidFill>
                <a:latin typeface="+mn-lt"/>
              </a:rPr>
              <a:t>Weekly volume sales (million kg)</a:t>
            </a:r>
          </a:p>
        </c:rich>
      </c:tx>
      <c:layout/>
      <c:overlay val="0"/>
    </c:title>
    <c:autoTitleDeleted val="0"/>
    <c:plotArea>
      <c:layout/>
      <c:lineChart>
        <c:varyColors val="0"/>
        <c:ser>
          <c:idx val="0"/>
          <c:order val="0"/>
          <c:tx>
            <c:strRef>
              <c:f>Sheet1!$B$1</c:f>
              <c:strCache>
                <c:ptCount val="1"/>
                <c:pt idx="0">
                  <c:v>Volume (M kg)</c:v>
                </c:pt>
              </c:strCache>
            </c:strRef>
          </c:tx>
          <c:spPr>
            <a:solidFill>
              <a:srgbClr val="1B7F8C"/>
            </a:solidFill>
            <a:ln w="25400" cap="flat">
              <a:solidFill>
                <a:srgbClr val="1B7F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B7F8C"/>
              </a:solidFill>
              <a:ln w="9525" cap="flat">
                <a:solidFill>
                  <a:srgbClr val="1B7F8C"/>
                </a:solidFill>
                <a:prstDash val="solid"/>
                <a:round/>
              </a:ln>
              <a:effectLst/>
            </c:spPr>
          </c:marker>
          <c:cat>
            <c:multiLvlStrRef>
              <c:f>Sheet1!$A$2:$A$162</c:f>
              <c:multiLvlStrCache>
                <c:ptCount val="161"/>
                <c:lvl>
                  <c:pt idx="0">
                    <c:v>Jan 22</c:v>
                  </c:pt>
                  <c:pt idx="1">
                    <c:v>Jan 22</c:v>
                  </c:pt>
                  <c:pt idx="2">
                    <c:v>Jan 22</c:v>
                  </c:pt>
                  <c:pt idx="3">
                    <c:v>Jan 22</c:v>
                  </c:pt>
                  <c:pt idx="4">
                    <c:v>Jan 22</c:v>
                  </c:pt>
                  <c:pt idx="5">
                    <c:v>Feb 22</c:v>
                  </c:pt>
                  <c:pt idx="6">
                    <c:v>Feb 22</c:v>
                  </c:pt>
                  <c:pt idx="7">
                    <c:v>Feb 22</c:v>
                  </c:pt>
                  <c:pt idx="8">
                    <c:v>Feb 22</c:v>
                  </c:pt>
                  <c:pt idx="9">
                    <c:v>Mar 22</c:v>
                  </c:pt>
                  <c:pt idx="10">
                    <c:v>Mar 22</c:v>
                  </c:pt>
                  <c:pt idx="11">
                    <c:v>Mar 22</c:v>
                  </c:pt>
                  <c:pt idx="12">
                    <c:v>Mar 22</c:v>
                  </c:pt>
                  <c:pt idx="13">
                    <c:v>Apr 22</c:v>
                  </c:pt>
                  <c:pt idx="14">
                    <c:v>Apr 22</c:v>
                  </c:pt>
                  <c:pt idx="15">
                    <c:v>Apr 22</c:v>
                  </c:pt>
                  <c:pt idx="16">
                    <c:v>Apr 22</c:v>
                  </c:pt>
                  <c:pt idx="17">
                    <c:v>Apr 22</c:v>
                  </c:pt>
                  <c:pt idx="18">
                    <c:v>May 22</c:v>
                  </c:pt>
                  <c:pt idx="19">
                    <c:v>May 22</c:v>
                  </c:pt>
                  <c:pt idx="20">
                    <c:v>May 22</c:v>
                  </c:pt>
                  <c:pt idx="21">
                    <c:v>May 22</c:v>
                  </c:pt>
                  <c:pt idx="22">
                    <c:v>Jun 22</c:v>
                  </c:pt>
                  <c:pt idx="23">
                    <c:v>Jun 22</c:v>
                  </c:pt>
                  <c:pt idx="24">
                    <c:v>Jun 22</c:v>
                  </c:pt>
                  <c:pt idx="25">
                    <c:v>Jun 22</c:v>
                  </c:pt>
                  <c:pt idx="26">
                    <c:v>Jul 22</c:v>
                  </c:pt>
                  <c:pt idx="27">
                    <c:v>Jul 22</c:v>
                  </c:pt>
                  <c:pt idx="28">
                    <c:v>Jul 22</c:v>
                  </c:pt>
                  <c:pt idx="29">
                    <c:v>Jul 22</c:v>
                  </c:pt>
                  <c:pt idx="30">
                    <c:v>Jul 22</c:v>
                  </c:pt>
                  <c:pt idx="31">
                    <c:v>Aug 22</c:v>
                  </c:pt>
                  <c:pt idx="32">
                    <c:v>Aug 22</c:v>
                  </c:pt>
                  <c:pt idx="33">
                    <c:v>Aug 22</c:v>
                  </c:pt>
                  <c:pt idx="34">
                    <c:v>Aug 22</c:v>
                  </c:pt>
                  <c:pt idx="35">
                    <c:v>Sep 22</c:v>
                  </c:pt>
                  <c:pt idx="36">
                    <c:v>Sep 22</c:v>
                  </c:pt>
                  <c:pt idx="37">
                    <c:v>Sep 22</c:v>
                  </c:pt>
                  <c:pt idx="38">
                    <c:v>Sep 22</c:v>
                  </c:pt>
                  <c:pt idx="39">
                    <c:v>Oct 22</c:v>
                  </c:pt>
                  <c:pt idx="40">
                    <c:v>Oct 22</c:v>
                  </c:pt>
                  <c:pt idx="41">
                    <c:v>Oct 22</c:v>
                  </c:pt>
                  <c:pt idx="42">
                    <c:v>Oct 22</c:v>
                  </c:pt>
                  <c:pt idx="43">
                    <c:v>Oct 22</c:v>
                  </c:pt>
                  <c:pt idx="44">
                    <c:v>Nov 22</c:v>
                  </c:pt>
                  <c:pt idx="45">
                    <c:v>Nov 22</c:v>
                  </c:pt>
                  <c:pt idx="46">
                    <c:v>Nov 22</c:v>
                  </c:pt>
                  <c:pt idx="47">
                    <c:v>Nov 22</c:v>
                  </c:pt>
                  <c:pt idx="48">
                    <c:v>Dec 22</c:v>
                  </c:pt>
                  <c:pt idx="49">
                    <c:v>Dec 22</c:v>
                  </c:pt>
                  <c:pt idx="50">
                    <c:v>Dec 22</c:v>
                  </c:pt>
                  <c:pt idx="51">
                    <c:v>Dec 22</c:v>
                  </c:pt>
                  <c:pt idx="52">
                    <c:v>Dec 22</c:v>
                  </c:pt>
                  <c:pt idx="53">
                    <c:v>Jan 23</c:v>
                  </c:pt>
                  <c:pt idx="54">
                    <c:v>Jan 23</c:v>
                  </c:pt>
                  <c:pt idx="55">
                    <c:v>Jan 23</c:v>
                  </c:pt>
                  <c:pt idx="56">
                    <c:v>Jan 23</c:v>
                  </c:pt>
                  <c:pt idx="57">
                    <c:v>Feb 23</c:v>
                  </c:pt>
                  <c:pt idx="58">
                    <c:v>Feb 23</c:v>
                  </c:pt>
                  <c:pt idx="59">
                    <c:v>Feb 23</c:v>
                  </c:pt>
                  <c:pt idx="60">
                    <c:v>Feb 23</c:v>
                  </c:pt>
                  <c:pt idx="61">
                    <c:v>Mar 23</c:v>
                  </c:pt>
                  <c:pt idx="62">
                    <c:v>Mar 23</c:v>
                  </c:pt>
                  <c:pt idx="63">
                    <c:v>Mar 23</c:v>
                  </c:pt>
                  <c:pt idx="64">
                    <c:v>Mar 23</c:v>
                  </c:pt>
                  <c:pt idx="65">
                    <c:v>Apr 23</c:v>
                  </c:pt>
                  <c:pt idx="66">
                    <c:v>Apr 23</c:v>
                  </c:pt>
                  <c:pt idx="67">
                    <c:v>Apr 23</c:v>
                  </c:pt>
                  <c:pt idx="68">
                    <c:v>Apr 23</c:v>
                  </c:pt>
                  <c:pt idx="69">
                    <c:v>Apr 23</c:v>
                  </c:pt>
                  <c:pt idx="70">
                    <c:v>May 23</c:v>
                  </c:pt>
                  <c:pt idx="71">
                    <c:v>May 23</c:v>
                  </c:pt>
                  <c:pt idx="72">
                    <c:v>May 23</c:v>
                  </c:pt>
                  <c:pt idx="73">
                    <c:v>May 23</c:v>
                  </c:pt>
                  <c:pt idx="74">
                    <c:v>Jun 23</c:v>
                  </c:pt>
                  <c:pt idx="75">
                    <c:v>Jun 23</c:v>
                  </c:pt>
                  <c:pt idx="76">
                    <c:v>Jun 23</c:v>
                  </c:pt>
                  <c:pt idx="77">
                    <c:v>Jun 23</c:v>
                  </c:pt>
                  <c:pt idx="78">
                    <c:v>Jul 23</c:v>
                  </c:pt>
                  <c:pt idx="79">
                    <c:v>Jul 23</c:v>
                  </c:pt>
                  <c:pt idx="80">
                    <c:v>Jul 23</c:v>
                  </c:pt>
                  <c:pt idx="81">
                    <c:v>Jul 23</c:v>
                  </c:pt>
                  <c:pt idx="82">
                    <c:v>Jul 23</c:v>
                  </c:pt>
                  <c:pt idx="83">
                    <c:v>Aug 23</c:v>
                  </c:pt>
                  <c:pt idx="84">
                    <c:v>Aug 23</c:v>
                  </c:pt>
                  <c:pt idx="85">
                    <c:v>Aug 23</c:v>
                  </c:pt>
                  <c:pt idx="86">
                    <c:v>Aug 23</c:v>
                  </c:pt>
                  <c:pt idx="87">
                    <c:v>Sep 23</c:v>
                  </c:pt>
                  <c:pt idx="88">
                    <c:v>Sep 23</c:v>
                  </c:pt>
                  <c:pt idx="89">
                    <c:v>Sep 23</c:v>
                  </c:pt>
                  <c:pt idx="90">
                    <c:v>Sep 23</c:v>
                  </c:pt>
                  <c:pt idx="91">
                    <c:v>Sep 23</c:v>
                  </c:pt>
                  <c:pt idx="92">
                    <c:v>Oct 23</c:v>
                  </c:pt>
                  <c:pt idx="93">
                    <c:v>Oct 23</c:v>
                  </c:pt>
                  <c:pt idx="94">
                    <c:v>Oct 23</c:v>
                  </c:pt>
                  <c:pt idx="95">
                    <c:v>Oct 23</c:v>
                  </c:pt>
                  <c:pt idx="96">
                    <c:v>Nov 23</c:v>
                  </c:pt>
                  <c:pt idx="97">
                    <c:v>Nov 23</c:v>
                  </c:pt>
                  <c:pt idx="98">
                    <c:v>Nov 23</c:v>
                  </c:pt>
                  <c:pt idx="99">
                    <c:v>Nov 23</c:v>
                  </c:pt>
                  <c:pt idx="100">
                    <c:v>Dec 23</c:v>
                  </c:pt>
                  <c:pt idx="101">
                    <c:v>Dec 23</c:v>
                  </c:pt>
                  <c:pt idx="102">
                    <c:v>Dec 23</c:v>
                  </c:pt>
                  <c:pt idx="103">
                    <c:v>Dec 23</c:v>
                  </c:pt>
                  <c:pt idx="104">
                    <c:v>Dec 23</c:v>
                  </c:pt>
                  <c:pt idx="105">
                    <c:v>Jan 24</c:v>
                  </c:pt>
                  <c:pt idx="106">
                    <c:v>Jan 24</c:v>
                  </c:pt>
                  <c:pt idx="107">
                    <c:v>Jan 24</c:v>
                  </c:pt>
                  <c:pt idx="108">
                    <c:v>Jan 24</c:v>
                  </c:pt>
                  <c:pt idx="109">
                    <c:v>Feb 24</c:v>
                  </c:pt>
                  <c:pt idx="110">
                    <c:v>Feb 24</c:v>
                  </c:pt>
                  <c:pt idx="111">
                    <c:v>Feb 24</c:v>
                  </c:pt>
                  <c:pt idx="112">
                    <c:v>Feb 24</c:v>
                  </c:pt>
                  <c:pt idx="113">
                    <c:v>Mar 24</c:v>
                  </c:pt>
                  <c:pt idx="114">
                    <c:v>Mar 24</c:v>
                  </c:pt>
                  <c:pt idx="115">
                    <c:v>Mar 24</c:v>
                  </c:pt>
                  <c:pt idx="116">
                    <c:v>Mar 24</c:v>
                  </c:pt>
                  <c:pt idx="117">
                    <c:v>Mar 24</c:v>
                  </c:pt>
                  <c:pt idx="118">
                    <c:v>Apr 24</c:v>
                  </c:pt>
                  <c:pt idx="119">
                    <c:v>Apr 24</c:v>
                  </c:pt>
                  <c:pt idx="120">
                    <c:v>Apr 24</c:v>
                  </c:pt>
                  <c:pt idx="121">
                    <c:v>Apr 24</c:v>
                  </c:pt>
                  <c:pt idx="122">
                    <c:v>May 24</c:v>
                  </c:pt>
                  <c:pt idx="123">
                    <c:v>May 24</c:v>
                  </c:pt>
                  <c:pt idx="124">
                    <c:v>May 24</c:v>
                  </c:pt>
                  <c:pt idx="125">
                    <c:v>May 24</c:v>
                  </c:pt>
                  <c:pt idx="126">
                    <c:v>Jun 24</c:v>
                  </c:pt>
                  <c:pt idx="127">
                    <c:v>Jun 24</c:v>
                  </c:pt>
                  <c:pt idx="128">
                    <c:v>Jun 24</c:v>
                  </c:pt>
                  <c:pt idx="129">
                    <c:v>Jun 24</c:v>
                  </c:pt>
                  <c:pt idx="130">
                    <c:v>Jun 24</c:v>
                  </c:pt>
                  <c:pt idx="131">
                    <c:v>Jul 24</c:v>
                  </c:pt>
                  <c:pt idx="132">
                    <c:v>Jul 24</c:v>
                  </c:pt>
                  <c:pt idx="133">
                    <c:v>Jul 24</c:v>
                  </c:pt>
                  <c:pt idx="134">
                    <c:v>Jul 24</c:v>
                  </c:pt>
                  <c:pt idx="135">
                    <c:v>Aug 24</c:v>
                  </c:pt>
                  <c:pt idx="136">
                    <c:v>Aug 24</c:v>
                  </c:pt>
                  <c:pt idx="137">
                    <c:v>Aug 24</c:v>
                  </c:pt>
                  <c:pt idx="138">
                    <c:v>Aug 24</c:v>
                  </c:pt>
                  <c:pt idx="139">
                    <c:v>Aug 24</c:v>
                  </c:pt>
                  <c:pt idx="140">
                    <c:v>Sep 24</c:v>
                  </c:pt>
                  <c:pt idx="141">
                    <c:v>Sep 24</c:v>
                  </c:pt>
                  <c:pt idx="142">
                    <c:v>Sep 24</c:v>
                  </c:pt>
                  <c:pt idx="143">
                    <c:v>Sep 24</c:v>
                  </c:pt>
                  <c:pt idx="144">
                    <c:v>Oct 24</c:v>
                  </c:pt>
                  <c:pt idx="145">
                    <c:v>Oct 24</c:v>
                  </c:pt>
                  <c:pt idx="146">
                    <c:v>Oct 24</c:v>
                  </c:pt>
                  <c:pt idx="147">
                    <c:v>Oct 24</c:v>
                  </c:pt>
                  <c:pt idx="148">
                    <c:v>Nov 24</c:v>
                  </c:pt>
                  <c:pt idx="149">
                    <c:v>Nov 24</c:v>
                  </c:pt>
                  <c:pt idx="150">
                    <c:v>Nov 24</c:v>
                  </c:pt>
                  <c:pt idx="151">
                    <c:v>Nov 24</c:v>
                  </c:pt>
                  <c:pt idx="152">
                    <c:v>Nov 24</c:v>
                  </c:pt>
                  <c:pt idx="153">
                    <c:v>Dec 24</c:v>
                  </c:pt>
                  <c:pt idx="154">
                    <c:v>Dec 24</c:v>
                  </c:pt>
                  <c:pt idx="155">
                    <c:v>Dec 24</c:v>
                  </c:pt>
                  <c:pt idx="156">
                    <c:v>Dec 24</c:v>
                  </c:pt>
                  <c:pt idx="157">
                    <c:v>Jan 25</c:v>
                  </c:pt>
                  <c:pt idx="158">
                    <c:v>Jan 25</c:v>
                  </c:pt>
                  <c:pt idx="159">
                    <c:v>Jan 25</c:v>
                  </c:pt>
                  <c:pt idx="160">
                    <c:v>Jan 25</c:v>
                  </c:pt>
                </c:lvl>
              </c:multiLvlStrCache>
            </c:multiLvlStrRef>
          </c:cat>
          <c:val>
            <c:numRef>
              <c:f>Sheet1!$B$2:$B$162</c:f>
              <c:numCache>
                <c:formatCode>General</c:formatCode>
                <c:ptCount val="161"/>
                <c:pt idx="0">
                  <c:v>2.0409566310000002</c:v>
                </c:pt>
                <c:pt idx="1">
                  <c:v>2.9481381150000003</c:v>
                </c:pt>
                <c:pt idx="2">
                  <c:v>2.8649766299999997</c:v>
                </c:pt>
                <c:pt idx="3">
                  <c:v>2.89519431</c:v>
                </c:pt>
                <c:pt idx="4">
                  <c:v>2.8024732510000003</c:v>
                </c:pt>
                <c:pt idx="5">
                  <c:v>2.8438142220000002</c:v>
                </c:pt>
                <c:pt idx="6">
                  <c:v>2.807246294</c:v>
                </c:pt>
                <c:pt idx="7">
                  <c:v>2.767543802</c:v>
                </c:pt>
                <c:pt idx="8">
                  <c:v>2.99978254</c:v>
                </c:pt>
                <c:pt idx="9">
                  <c:v>3.205139339</c:v>
                </c:pt>
                <c:pt idx="10">
                  <c:v>3.318470573</c:v>
                </c:pt>
                <c:pt idx="11">
                  <c:v>3.4561169169999997</c:v>
                </c:pt>
                <c:pt idx="12">
                  <c:v>3.759682856</c:v>
                </c:pt>
                <c:pt idx="13">
                  <c:v>3.543546471</c:v>
                </c:pt>
                <c:pt idx="14">
                  <c:v>3.619793086</c:v>
                </c:pt>
                <c:pt idx="15">
                  <c:v>3.841316525</c:v>
                </c:pt>
                <c:pt idx="16">
                  <c:v>3.4229248080000003</c:v>
                </c:pt>
                <c:pt idx="17">
                  <c:v>3.451387193</c:v>
                </c:pt>
                <c:pt idx="18">
                  <c:v>3.397210883</c:v>
                </c:pt>
                <c:pt idx="19">
                  <c:v>3.55159036</c:v>
                </c:pt>
                <c:pt idx="20">
                  <c:v>3.55209337</c:v>
                </c:pt>
                <c:pt idx="21">
                  <c:v>2.9605888480000004</c:v>
                </c:pt>
                <c:pt idx="22">
                  <c:v>3.232027712</c:v>
                </c:pt>
                <c:pt idx="23">
                  <c:v>3.278939416</c:v>
                </c:pt>
                <c:pt idx="24">
                  <c:v>4.0065033560000005</c:v>
                </c:pt>
                <c:pt idx="25">
                  <c:v>3.734745142</c:v>
                </c:pt>
                <c:pt idx="26">
                  <c:v>3.337795493</c:v>
                </c:pt>
                <c:pt idx="27">
                  <c:v>3.8546125079999998</c:v>
                </c:pt>
                <c:pt idx="28">
                  <c:v>4.945491141</c:v>
                </c:pt>
                <c:pt idx="29">
                  <c:v>4.92005481</c:v>
                </c:pt>
                <c:pt idx="30">
                  <c:v>3.73360648</c:v>
                </c:pt>
                <c:pt idx="31">
                  <c:v>4.007121292</c:v>
                </c:pt>
                <c:pt idx="32">
                  <c:v>5.419933124</c:v>
                </c:pt>
                <c:pt idx="33">
                  <c:v>3.705118338</c:v>
                </c:pt>
                <c:pt idx="34">
                  <c:v>3.7975050469999996</c:v>
                </c:pt>
                <c:pt idx="35">
                  <c:v>2.7180778429999997</c:v>
                </c:pt>
                <c:pt idx="36">
                  <c:v>2.725734436</c:v>
                </c:pt>
                <c:pt idx="37">
                  <c:v>2.846061446</c:v>
                </c:pt>
                <c:pt idx="38">
                  <c:v>2.5246062659999997</c:v>
                </c:pt>
                <c:pt idx="39">
                  <c:v>2.414502122</c:v>
                </c:pt>
                <c:pt idx="40">
                  <c:v>2.390215418</c:v>
                </c:pt>
                <c:pt idx="41">
                  <c:v>2.262514209</c:v>
                </c:pt>
                <c:pt idx="42">
                  <c:v>2.372279416</c:v>
                </c:pt>
                <c:pt idx="43">
                  <c:v>2.523578933</c:v>
                </c:pt>
                <c:pt idx="44">
                  <c:v>2.5360107910000003</c:v>
                </c:pt>
                <c:pt idx="45">
                  <c:v>2.565954392</c:v>
                </c:pt>
                <c:pt idx="46">
                  <c:v>2.55636289</c:v>
                </c:pt>
                <c:pt idx="47">
                  <c:v>2.474825501</c:v>
                </c:pt>
                <c:pt idx="48">
                  <c:v>2.5424942510000004</c:v>
                </c:pt>
                <c:pt idx="49">
                  <c:v>2.488743209</c:v>
                </c:pt>
                <c:pt idx="50">
                  <c:v>2.5939829150000002</c:v>
                </c:pt>
                <c:pt idx="51">
                  <c:v>2.732729663</c:v>
                </c:pt>
                <c:pt idx="52">
                  <c:v>2.040799369</c:v>
                </c:pt>
                <c:pt idx="53">
                  <c:v>2.550419233</c:v>
                </c:pt>
                <c:pt idx="54">
                  <c:v>2.645894222</c:v>
                </c:pt>
                <c:pt idx="55">
                  <c:v>2.5792599330000003</c:v>
                </c:pt>
                <c:pt idx="56">
                  <c:v>2.6412190520000003</c:v>
                </c:pt>
                <c:pt idx="57">
                  <c:v>2.722251176</c:v>
                </c:pt>
                <c:pt idx="58">
                  <c:v>2.5579085750000004</c:v>
                </c:pt>
                <c:pt idx="59">
                  <c:v>2.474958162</c:v>
                </c:pt>
                <c:pt idx="60">
                  <c:v>2.471391762</c:v>
                </c:pt>
                <c:pt idx="61">
                  <c:v>2.467607889</c:v>
                </c:pt>
                <c:pt idx="62">
                  <c:v>2.402232138</c:v>
                </c:pt>
                <c:pt idx="63">
                  <c:v>2.523014636</c:v>
                </c:pt>
                <c:pt idx="64">
                  <c:v>2.527627321</c:v>
                </c:pt>
                <c:pt idx="65">
                  <c:v>2.472424795</c:v>
                </c:pt>
                <c:pt idx="66">
                  <c:v>2.732249272</c:v>
                </c:pt>
                <c:pt idx="67">
                  <c:v>2.708713634</c:v>
                </c:pt>
                <c:pt idx="68">
                  <c:v>3.1270976349999997</c:v>
                </c:pt>
                <c:pt idx="69">
                  <c:v>3.153219268</c:v>
                </c:pt>
                <c:pt idx="70">
                  <c:v>3.013276527</c:v>
                </c:pt>
                <c:pt idx="71">
                  <c:v>2.821128201</c:v>
                </c:pt>
                <c:pt idx="72">
                  <c:v>3.044415892</c:v>
                </c:pt>
                <c:pt idx="73">
                  <c:v>3.5516590440000004</c:v>
                </c:pt>
                <c:pt idx="74">
                  <c:v>3.48854808</c:v>
                </c:pt>
                <c:pt idx="75">
                  <c:v>3.802619</c:v>
                </c:pt>
                <c:pt idx="76">
                  <c:v>4.783990879</c:v>
                </c:pt>
                <c:pt idx="77">
                  <c:v>4.201939596</c:v>
                </c:pt>
                <c:pt idx="78">
                  <c:v>3.815183805</c:v>
                </c:pt>
                <c:pt idx="79">
                  <c:v>3.337166336</c:v>
                </c:pt>
                <c:pt idx="80">
                  <c:v>3.07693794</c:v>
                </c:pt>
                <c:pt idx="81">
                  <c:v>3.109727505</c:v>
                </c:pt>
                <c:pt idx="82">
                  <c:v>3.156557585</c:v>
                </c:pt>
                <c:pt idx="83">
                  <c:v>3.085995219</c:v>
                </c:pt>
                <c:pt idx="84">
                  <c:v>3.417545815</c:v>
                </c:pt>
                <c:pt idx="85">
                  <c:v>3.3786906869999997</c:v>
                </c:pt>
                <c:pt idx="86">
                  <c:v>3.5653094079999996</c:v>
                </c:pt>
                <c:pt idx="87">
                  <c:v>3.1295284700000003</c:v>
                </c:pt>
                <c:pt idx="88">
                  <c:v>4.518454365</c:v>
                </c:pt>
                <c:pt idx="89">
                  <c:v>3.5063869739999998</c:v>
                </c:pt>
                <c:pt idx="90">
                  <c:v>2.778862171</c:v>
                </c:pt>
                <c:pt idx="91">
                  <c:v>2.884832646</c:v>
                </c:pt>
                <c:pt idx="92">
                  <c:v>3.009062478</c:v>
                </c:pt>
                <c:pt idx="93">
                  <c:v>3.043207491</c:v>
                </c:pt>
                <c:pt idx="94">
                  <c:v>2.761169889</c:v>
                </c:pt>
                <c:pt idx="95">
                  <c:v>2.616964494</c:v>
                </c:pt>
                <c:pt idx="96">
                  <c:v>2.478923247</c:v>
                </c:pt>
                <c:pt idx="97">
                  <c:v>2.469939978</c:v>
                </c:pt>
                <c:pt idx="98">
                  <c:v>2.4746954679999997</c:v>
                </c:pt>
                <c:pt idx="99">
                  <c:v>2.585968552</c:v>
                </c:pt>
                <c:pt idx="100">
                  <c:v>2.5293341349999996</c:v>
                </c:pt>
                <c:pt idx="101">
                  <c:v>2.503029479</c:v>
                </c:pt>
                <c:pt idx="102">
                  <c:v>2.432235583</c:v>
                </c:pt>
                <c:pt idx="103">
                  <c:v>2.526868173</c:v>
                </c:pt>
                <c:pt idx="104">
                  <c:v>1.952065293</c:v>
                </c:pt>
                <c:pt idx="105">
                  <c:v>2.38424724</c:v>
                </c:pt>
                <c:pt idx="106">
                  <c:v>2.492562522</c:v>
                </c:pt>
                <c:pt idx="107">
                  <c:v>2.3943802080000003</c:v>
                </c:pt>
                <c:pt idx="108">
                  <c:v>2.499733478</c:v>
                </c:pt>
                <c:pt idx="109">
                  <c:v>2.41204316</c:v>
                </c:pt>
                <c:pt idx="110">
                  <c:v>2.332598119</c:v>
                </c:pt>
                <c:pt idx="111">
                  <c:v>2.405734298</c:v>
                </c:pt>
                <c:pt idx="112">
                  <c:v>2.37047616</c:v>
                </c:pt>
                <c:pt idx="113">
                  <c:v>2.49483141</c:v>
                </c:pt>
                <c:pt idx="114">
                  <c:v>2.607933154</c:v>
                </c:pt>
                <c:pt idx="115">
                  <c:v>2.6091126179999997</c:v>
                </c:pt>
                <c:pt idx="116">
                  <c:v>2.671958166</c:v>
                </c:pt>
                <c:pt idx="117">
                  <c:v>2.570296466</c:v>
                </c:pt>
                <c:pt idx="118">
                  <c:v>2.420027849</c:v>
                </c:pt>
                <c:pt idx="119">
                  <c:v>2.5981886320000003</c:v>
                </c:pt>
                <c:pt idx="120">
                  <c:v>2.641684036</c:v>
                </c:pt>
                <c:pt idx="121">
                  <c:v>2.7503636609999997</c:v>
                </c:pt>
                <c:pt idx="122">
                  <c:v>3.1459605049999997</c:v>
                </c:pt>
                <c:pt idx="123">
                  <c:v>3.6128926889999997</c:v>
                </c:pt>
                <c:pt idx="124">
                  <c:v>3.781333827</c:v>
                </c:pt>
                <c:pt idx="125">
                  <c:v>3.8206643369999997</c:v>
                </c:pt>
                <c:pt idx="126">
                  <c:v>3.511375171</c:v>
                </c:pt>
                <c:pt idx="127">
                  <c:v>3.8133722540000003</c:v>
                </c:pt>
                <c:pt idx="128">
                  <c:v>3.5932062179999997</c:v>
                </c:pt>
                <c:pt idx="129">
                  <c:v>3.942026122</c:v>
                </c:pt>
                <c:pt idx="130">
                  <c:v>4.82446569</c:v>
                </c:pt>
                <c:pt idx="131">
                  <c:v>3.680119456</c:v>
                </c:pt>
                <c:pt idx="132">
                  <c:v>3.66072541</c:v>
                </c:pt>
                <c:pt idx="133">
                  <c:v>4.49635271</c:v>
                </c:pt>
                <c:pt idx="134">
                  <c:v>4.463880799</c:v>
                </c:pt>
                <c:pt idx="135">
                  <c:v>5.399892497000001</c:v>
                </c:pt>
                <c:pt idx="136">
                  <c:v>4.336705428</c:v>
                </c:pt>
                <c:pt idx="137">
                  <c:v>4.57682908</c:v>
                </c:pt>
                <c:pt idx="138">
                  <c:v>3.7525811239999998</c:v>
                </c:pt>
                <c:pt idx="139">
                  <c:v>3.764944971</c:v>
                </c:pt>
                <c:pt idx="140">
                  <c:v>3.560356713</c:v>
                </c:pt>
                <c:pt idx="141">
                  <c:v>3.257773082</c:v>
                </c:pt>
                <c:pt idx="142">
                  <c:v>3.51514573</c:v>
                </c:pt>
                <c:pt idx="143">
                  <c:v>3.261728481</c:v>
                </c:pt>
                <c:pt idx="144">
                  <c:v>3.107247959</c:v>
                </c:pt>
                <c:pt idx="145">
                  <c:v>3.158835111</c:v>
                </c:pt>
                <c:pt idx="146">
                  <c:v>3.231984626</c:v>
                </c:pt>
                <c:pt idx="147">
                  <c:v>3.1688627429999996</c:v>
                </c:pt>
                <c:pt idx="148">
                  <c:v>3.1705377009999998</c:v>
                </c:pt>
                <c:pt idx="149">
                  <c:v>2.908640577</c:v>
                </c:pt>
                <c:pt idx="150">
                  <c:v>2.7801074150000002</c:v>
                </c:pt>
                <c:pt idx="151">
                  <c:v>2.716782131</c:v>
                </c:pt>
                <c:pt idx="152">
                  <c:v>2.9359038080000004</c:v>
                </c:pt>
                <c:pt idx="153">
                  <c:v>2.8506074270000004</c:v>
                </c:pt>
                <c:pt idx="154">
                  <c:v>2.7719310019999996</c:v>
                </c:pt>
                <c:pt idx="155">
                  <c:v>2.816968552</c:v>
                </c:pt>
                <c:pt idx="156">
                  <c:v>2.21366394</c:v>
                </c:pt>
                <c:pt idx="157">
                  <c:v>2.712110221</c:v>
                </c:pt>
                <c:pt idx="158">
                  <c:v>2.917224368</c:v>
                </c:pt>
                <c:pt idx="159">
                  <c:v>2.9931619019999998</c:v>
                </c:pt>
                <c:pt idx="160">
                  <c:v>2.969795035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5"/>
            </a:solidFill>
            <a:prstDash val="solid"/>
            <a:round/>
          </a:ln>
        </c:spPr>
        <c:txPr>
          <a:bodyPr/>
          <a:lstStyle/>
          <a:p>
            <a:pPr>
              <a:defRPr sz="1100" b="0" i="0" u="none" strike="noStrike">
                <a:solidFill>
                  <a:srgbClr val="5B6B70"/>
                </a:solidFill>
                <a:latin typeface="+mn-lt"/>
              </a:defRPr>
            </a:pPr>
            <a:endParaRPr lang="en-US"/>
          </a:p>
        </c:txPr>
        <c:crossAx val="2094734552"/>
        <c:crosses val="autoZero"/>
        <c:auto val="1"/>
        <c:lblAlgn val="ctr"/>
        <c:noMultiLvlLbl val="1"/>
        <c:tickLblSkip val="13"/>
      </c:catAx>
      <c:valAx>
        <c:axId val="2094734552"/>
        <c:scaling>
          <c:orientation val="minMax"/>
          <c:min val="0"/>
        </c:scaling>
        <c:delete val="0"/>
        <c:axPos val="l"/>
        <c:majorGridlines>
          <c:spPr>
            <a:ln w="9525" cap="flat">
              <a:solidFill>
                <a:srgbClr val="E1E8E9"/>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B6B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0B3C49"/>
                </a:solidFill>
                <a:latin typeface="+mn-lt"/>
              </a:defRPr>
            </a:pPr>
            <a:r>
              <a:rPr sz="1300" b="0" i="0" u="none" strike="noStrike">
                <a:solidFill>
                  <a:srgbClr val="0B3C49"/>
                </a:solidFill>
                <a:latin typeface="+mn-lt"/>
              </a:rPr>
              <a:t>Weekly max temperature (°C)</a:t>
            </a:r>
          </a:p>
        </c:rich>
      </c:tx>
      <c:layout/>
      <c:overlay val="0"/>
    </c:title>
    <c:autoTitleDeleted val="0"/>
    <c:plotArea>
      <c:layout/>
      <c:lineChart>
        <c:varyColors val="0"/>
        <c:ser>
          <c:idx val="0"/>
          <c:order val="0"/>
          <c:tx>
            <c:strRef>
              <c:f>Sheet1!$B$1</c:f>
              <c:strCache>
                <c:ptCount val="1"/>
                <c:pt idx="0">
                  <c:v>Max temperature</c:v>
                </c:pt>
              </c:strCache>
            </c:strRef>
          </c:tx>
          <c:spPr>
            <a:solidFill>
              <a:srgbClr val="F2A541"/>
            </a:solidFill>
            <a:ln w="25400" cap="flat">
              <a:solidFill>
                <a:srgbClr val="F2A5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A541"/>
              </a:solidFill>
              <a:ln w="9525" cap="flat">
                <a:solidFill>
                  <a:srgbClr val="F2A541"/>
                </a:solidFill>
                <a:prstDash val="solid"/>
                <a:round/>
              </a:ln>
              <a:effectLst/>
            </c:spPr>
          </c:marker>
          <c:cat>
            <c:multiLvlStrRef>
              <c:f>Sheet1!$A$2:$A$162</c:f>
              <c:multiLvlStrCache>
                <c:ptCount val="161"/>
                <c:lvl>
                  <c:pt idx="0">
                    <c:v>Jan 22</c:v>
                  </c:pt>
                  <c:pt idx="1">
                    <c:v>Jan 22</c:v>
                  </c:pt>
                  <c:pt idx="2">
                    <c:v>Jan 22</c:v>
                  </c:pt>
                  <c:pt idx="3">
                    <c:v>Jan 22</c:v>
                  </c:pt>
                  <c:pt idx="4">
                    <c:v>Jan 22</c:v>
                  </c:pt>
                  <c:pt idx="5">
                    <c:v>Feb 22</c:v>
                  </c:pt>
                  <c:pt idx="6">
                    <c:v>Feb 22</c:v>
                  </c:pt>
                  <c:pt idx="7">
                    <c:v>Feb 22</c:v>
                  </c:pt>
                  <c:pt idx="8">
                    <c:v>Feb 22</c:v>
                  </c:pt>
                  <c:pt idx="9">
                    <c:v>Mar 22</c:v>
                  </c:pt>
                  <c:pt idx="10">
                    <c:v>Mar 22</c:v>
                  </c:pt>
                  <c:pt idx="11">
                    <c:v>Mar 22</c:v>
                  </c:pt>
                  <c:pt idx="12">
                    <c:v>Mar 22</c:v>
                  </c:pt>
                  <c:pt idx="13">
                    <c:v>Apr 22</c:v>
                  </c:pt>
                  <c:pt idx="14">
                    <c:v>Apr 22</c:v>
                  </c:pt>
                  <c:pt idx="15">
                    <c:v>Apr 22</c:v>
                  </c:pt>
                  <c:pt idx="16">
                    <c:v>Apr 22</c:v>
                  </c:pt>
                  <c:pt idx="17">
                    <c:v>Apr 22</c:v>
                  </c:pt>
                  <c:pt idx="18">
                    <c:v>May 22</c:v>
                  </c:pt>
                  <c:pt idx="19">
                    <c:v>May 22</c:v>
                  </c:pt>
                  <c:pt idx="20">
                    <c:v>May 22</c:v>
                  </c:pt>
                  <c:pt idx="21">
                    <c:v>May 22</c:v>
                  </c:pt>
                  <c:pt idx="22">
                    <c:v>Jun 22</c:v>
                  </c:pt>
                  <c:pt idx="23">
                    <c:v>Jun 22</c:v>
                  </c:pt>
                  <c:pt idx="24">
                    <c:v>Jun 22</c:v>
                  </c:pt>
                  <c:pt idx="25">
                    <c:v>Jun 22</c:v>
                  </c:pt>
                  <c:pt idx="26">
                    <c:v>Jul 22</c:v>
                  </c:pt>
                  <c:pt idx="27">
                    <c:v>Jul 22</c:v>
                  </c:pt>
                  <c:pt idx="28">
                    <c:v>Jul 22</c:v>
                  </c:pt>
                  <c:pt idx="29">
                    <c:v>Jul 22</c:v>
                  </c:pt>
                  <c:pt idx="30">
                    <c:v>Jul 22</c:v>
                  </c:pt>
                  <c:pt idx="31">
                    <c:v>Aug 22</c:v>
                  </c:pt>
                  <c:pt idx="32">
                    <c:v>Aug 22</c:v>
                  </c:pt>
                  <c:pt idx="33">
                    <c:v>Aug 22</c:v>
                  </c:pt>
                  <c:pt idx="34">
                    <c:v>Aug 22</c:v>
                  </c:pt>
                  <c:pt idx="35">
                    <c:v>Sep 22</c:v>
                  </c:pt>
                  <c:pt idx="36">
                    <c:v>Sep 22</c:v>
                  </c:pt>
                  <c:pt idx="37">
                    <c:v>Sep 22</c:v>
                  </c:pt>
                  <c:pt idx="38">
                    <c:v>Sep 22</c:v>
                  </c:pt>
                  <c:pt idx="39">
                    <c:v>Oct 22</c:v>
                  </c:pt>
                  <c:pt idx="40">
                    <c:v>Oct 22</c:v>
                  </c:pt>
                  <c:pt idx="41">
                    <c:v>Oct 22</c:v>
                  </c:pt>
                  <c:pt idx="42">
                    <c:v>Oct 22</c:v>
                  </c:pt>
                  <c:pt idx="43">
                    <c:v>Oct 22</c:v>
                  </c:pt>
                  <c:pt idx="44">
                    <c:v>Nov 22</c:v>
                  </c:pt>
                  <c:pt idx="45">
                    <c:v>Nov 22</c:v>
                  </c:pt>
                  <c:pt idx="46">
                    <c:v>Nov 22</c:v>
                  </c:pt>
                  <c:pt idx="47">
                    <c:v>Nov 22</c:v>
                  </c:pt>
                  <c:pt idx="48">
                    <c:v>Dec 22</c:v>
                  </c:pt>
                  <c:pt idx="49">
                    <c:v>Dec 22</c:v>
                  </c:pt>
                  <c:pt idx="50">
                    <c:v>Dec 22</c:v>
                  </c:pt>
                  <c:pt idx="51">
                    <c:v>Dec 22</c:v>
                  </c:pt>
                  <c:pt idx="52">
                    <c:v>Dec 22</c:v>
                  </c:pt>
                  <c:pt idx="53">
                    <c:v>Jan 23</c:v>
                  </c:pt>
                  <c:pt idx="54">
                    <c:v>Jan 23</c:v>
                  </c:pt>
                  <c:pt idx="55">
                    <c:v>Jan 23</c:v>
                  </c:pt>
                  <c:pt idx="56">
                    <c:v>Jan 23</c:v>
                  </c:pt>
                  <c:pt idx="57">
                    <c:v>Feb 23</c:v>
                  </c:pt>
                  <c:pt idx="58">
                    <c:v>Feb 23</c:v>
                  </c:pt>
                  <c:pt idx="59">
                    <c:v>Feb 23</c:v>
                  </c:pt>
                  <c:pt idx="60">
                    <c:v>Feb 23</c:v>
                  </c:pt>
                  <c:pt idx="61">
                    <c:v>Mar 23</c:v>
                  </c:pt>
                  <c:pt idx="62">
                    <c:v>Mar 23</c:v>
                  </c:pt>
                  <c:pt idx="63">
                    <c:v>Mar 23</c:v>
                  </c:pt>
                  <c:pt idx="64">
                    <c:v>Mar 23</c:v>
                  </c:pt>
                  <c:pt idx="65">
                    <c:v>Apr 23</c:v>
                  </c:pt>
                  <c:pt idx="66">
                    <c:v>Apr 23</c:v>
                  </c:pt>
                  <c:pt idx="67">
                    <c:v>Apr 23</c:v>
                  </c:pt>
                  <c:pt idx="68">
                    <c:v>Apr 23</c:v>
                  </c:pt>
                  <c:pt idx="69">
                    <c:v>Apr 23</c:v>
                  </c:pt>
                  <c:pt idx="70">
                    <c:v>May 23</c:v>
                  </c:pt>
                  <c:pt idx="71">
                    <c:v>May 23</c:v>
                  </c:pt>
                  <c:pt idx="72">
                    <c:v>May 23</c:v>
                  </c:pt>
                  <c:pt idx="73">
                    <c:v>May 23</c:v>
                  </c:pt>
                  <c:pt idx="74">
                    <c:v>Jun 23</c:v>
                  </c:pt>
                  <c:pt idx="75">
                    <c:v>Jun 23</c:v>
                  </c:pt>
                  <c:pt idx="76">
                    <c:v>Jun 23</c:v>
                  </c:pt>
                  <c:pt idx="77">
                    <c:v>Jun 23</c:v>
                  </c:pt>
                  <c:pt idx="78">
                    <c:v>Jul 23</c:v>
                  </c:pt>
                  <c:pt idx="79">
                    <c:v>Jul 23</c:v>
                  </c:pt>
                  <c:pt idx="80">
                    <c:v>Jul 23</c:v>
                  </c:pt>
                  <c:pt idx="81">
                    <c:v>Jul 23</c:v>
                  </c:pt>
                  <c:pt idx="82">
                    <c:v>Jul 23</c:v>
                  </c:pt>
                  <c:pt idx="83">
                    <c:v>Aug 23</c:v>
                  </c:pt>
                  <c:pt idx="84">
                    <c:v>Aug 23</c:v>
                  </c:pt>
                  <c:pt idx="85">
                    <c:v>Aug 23</c:v>
                  </c:pt>
                  <c:pt idx="86">
                    <c:v>Aug 23</c:v>
                  </c:pt>
                  <c:pt idx="87">
                    <c:v>Sep 23</c:v>
                  </c:pt>
                  <c:pt idx="88">
                    <c:v>Sep 23</c:v>
                  </c:pt>
                  <c:pt idx="89">
                    <c:v>Sep 23</c:v>
                  </c:pt>
                  <c:pt idx="90">
                    <c:v>Sep 23</c:v>
                  </c:pt>
                  <c:pt idx="91">
                    <c:v>Sep 23</c:v>
                  </c:pt>
                  <c:pt idx="92">
                    <c:v>Oct 23</c:v>
                  </c:pt>
                  <c:pt idx="93">
                    <c:v>Oct 23</c:v>
                  </c:pt>
                  <c:pt idx="94">
                    <c:v>Oct 23</c:v>
                  </c:pt>
                  <c:pt idx="95">
                    <c:v>Oct 23</c:v>
                  </c:pt>
                  <c:pt idx="96">
                    <c:v>Nov 23</c:v>
                  </c:pt>
                  <c:pt idx="97">
                    <c:v>Nov 23</c:v>
                  </c:pt>
                  <c:pt idx="98">
                    <c:v>Nov 23</c:v>
                  </c:pt>
                  <c:pt idx="99">
                    <c:v>Nov 23</c:v>
                  </c:pt>
                  <c:pt idx="100">
                    <c:v>Dec 23</c:v>
                  </c:pt>
                  <c:pt idx="101">
                    <c:v>Dec 23</c:v>
                  </c:pt>
                  <c:pt idx="102">
                    <c:v>Dec 23</c:v>
                  </c:pt>
                  <c:pt idx="103">
                    <c:v>Dec 23</c:v>
                  </c:pt>
                  <c:pt idx="104">
                    <c:v>Dec 23</c:v>
                  </c:pt>
                  <c:pt idx="105">
                    <c:v>Jan 24</c:v>
                  </c:pt>
                  <c:pt idx="106">
                    <c:v>Jan 24</c:v>
                  </c:pt>
                  <c:pt idx="107">
                    <c:v>Jan 24</c:v>
                  </c:pt>
                  <c:pt idx="108">
                    <c:v>Jan 24</c:v>
                  </c:pt>
                  <c:pt idx="109">
                    <c:v>Feb 24</c:v>
                  </c:pt>
                  <c:pt idx="110">
                    <c:v>Feb 24</c:v>
                  </c:pt>
                  <c:pt idx="111">
                    <c:v>Feb 24</c:v>
                  </c:pt>
                  <c:pt idx="112">
                    <c:v>Feb 24</c:v>
                  </c:pt>
                  <c:pt idx="113">
                    <c:v>Mar 24</c:v>
                  </c:pt>
                  <c:pt idx="114">
                    <c:v>Mar 24</c:v>
                  </c:pt>
                  <c:pt idx="115">
                    <c:v>Mar 24</c:v>
                  </c:pt>
                  <c:pt idx="116">
                    <c:v>Mar 24</c:v>
                  </c:pt>
                  <c:pt idx="117">
                    <c:v>Mar 24</c:v>
                  </c:pt>
                  <c:pt idx="118">
                    <c:v>Apr 24</c:v>
                  </c:pt>
                  <c:pt idx="119">
                    <c:v>Apr 24</c:v>
                  </c:pt>
                  <c:pt idx="120">
                    <c:v>Apr 24</c:v>
                  </c:pt>
                  <c:pt idx="121">
                    <c:v>Apr 24</c:v>
                  </c:pt>
                  <c:pt idx="122">
                    <c:v>May 24</c:v>
                  </c:pt>
                  <c:pt idx="123">
                    <c:v>May 24</c:v>
                  </c:pt>
                  <c:pt idx="124">
                    <c:v>May 24</c:v>
                  </c:pt>
                  <c:pt idx="125">
                    <c:v>May 24</c:v>
                  </c:pt>
                  <c:pt idx="126">
                    <c:v>Jun 24</c:v>
                  </c:pt>
                  <c:pt idx="127">
                    <c:v>Jun 24</c:v>
                  </c:pt>
                  <c:pt idx="128">
                    <c:v>Jun 24</c:v>
                  </c:pt>
                  <c:pt idx="129">
                    <c:v>Jun 24</c:v>
                  </c:pt>
                  <c:pt idx="130">
                    <c:v>Jun 24</c:v>
                  </c:pt>
                  <c:pt idx="131">
                    <c:v>Jul 24</c:v>
                  </c:pt>
                  <c:pt idx="132">
                    <c:v>Jul 24</c:v>
                  </c:pt>
                  <c:pt idx="133">
                    <c:v>Jul 24</c:v>
                  </c:pt>
                  <c:pt idx="134">
                    <c:v>Jul 24</c:v>
                  </c:pt>
                  <c:pt idx="135">
                    <c:v>Aug 24</c:v>
                  </c:pt>
                  <c:pt idx="136">
                    <c:v>Aug 24</c:v>
                  </c:pt>
                  <c:pt idx="137">
                    <c:v>Aug 24</c:v>
                  </c:pt>
                  <c:pt idx="138">
                    <c:v>Aug 24</c:v>
                  </c:pt>
                  <c:pt idx="139">
                    <c:v>Aug 24</c:v>
                  </c:pt>
                  <c:pt idx="140">
                    <c:v>Sep 24</c:v>
                  </c:pt>
                  <c:pt idx="141">
                    <c:v>Sep 24</c:v>
                  </c:pt>
                  <c:pt idx="142">
                    <c:v>Sep 24</c:v>
                  </c:pt>
                  <c:pt idx="143">
                    <c:v>Sep 24</c:v>
                  </c:pt>
                  <c:pt idx="144">
                    <c:v>Oct 24</c:v>
                  </c:pt>
                  <c:pt idx="145">
                    <c:v>Oct 24</c:v>
                  </c:pt>
                  <c:pt idx="146">
                    <c:v>Oct 24</c:v>
                  </c:pt>
                  <c:pt idx="147">
                    <c:v>Oct 24</c:v>
                  </c:pt>
                  <c:pt idx="148">
                    <c:v>Nov 24</c:v>
                  </c:pt>
                  <c:pt idx="149">
                    <c:v>Nov 24</c:v>
                  </c:pt>
                  <c:pt idx="150">
                    <c:v>Nov 24</c:v>
                  </c:pt>
                  <c:pt idx="151">
                    <c:v>Nov 24</c:v>
                  </c:pt>
                  <c:pt idx="152">
                    <c:v>Nov 24</c:v>
                  </c:pt>
                  <c:pt idx="153">
                    <c:v>Dec 24</c:v>
                  </c:pt>
                  <c:pt idx="154">
                    <c:v>Dec 24</c:v>
                  </c:pt>
                  <c:pt idx="155">
                    <c:v>Dec 24</c:v>
                  </c:pt>
                  <c:pt idx="156">
                    <c:v>Dec 24</c:v>
                  </c:pt>
                  <c:pt idx="157">
                    <c:v>Jan 25</c:v>
                  </c:pt>
                  <c:pt idx="158">
                    <c:v>Jan 25</c:v>
                  </c:pt>
                  <c:pt idx="159">
                    <c:v>Jan 25</c:v>
                  </c:pt>
                  <c:pt idx="160">
                    <c:v>Jan 25</c:v>
                  </c:pt>
                </c:lvl>
              </c:multiLvlStrCache>
            </c:multiLvlStrRef>
          </c:cat>
          <c:val>
            <c:numRef>
              <c:f>Sheet1!$B$2:$B$162</c:f>
              <c:numCache>
                <c:formatCode>General</c:formatCode>
                <c:ptCount val="161"/>
                <c:pt idx="0">
                  <c:v>14.54</c:v>
                </c:pt>
                <c:pt idx="1">
                  <c:v>9.98</c:v>
                </c:pt>
                <c:pt idx="2">
                  <c:v>10.06</c:v>
                </c:pt>
                <c:pt idx="3">
                  <c:v>9.54</c:v>
                </c:pt>
                <c:pt idx="4">
                  <c:v>12.98</c:v>
                </c:pt>
                <c:pt idx="5">
                  <c:v>12.92</c:v>
                </c:pt>
                <c:pt idx="6">
                  <c:v>12.22</c:v>
                </c:pt>
                <c:pt idx="7">
                  <c:v>13.7</c:v>
                </c:pt>
                <c:pt idx="8">
                  <c:v>12.42</c:v>
                </c:pt>
                <c:pt idx="9">
                  <c:v>11.44</c:v>
                </c:pt>
                <c:pt idx="10">
                  <c:v>12.96</c:v>
                </c:pt>
                <c:pt idx="11">
                  <c:v>15.02</c:v>
                </c:pt>
                <c:pt idx="12">
                  <c:v>18.6</c:v>
                </c:pt>
                <c:pt idx="13">
                  <c:v>15.2</c:v>
                </c:pt>
                <c:pt idx="14">
                  <c:v>14.34</c:v>
                </c:pt>
                <c:pt idx="15">
                  <c:v>19.58</c:v>
                </c:pt>
                <c:pt idx="16">
                  <c:v>17.8</c:v>
                </c:pt>
                <c:pt idx="17">
                  <c:v>17.04</c:v>
                </c:pt>
                <c:pt idx="18">
                  <c:v>20.34</c:v>
                </c:pt>
                <c:pt idx="19">
                  <c:v>20.82</c:v>
                </c:pt>
                <c:pt idx="20">
                  <c:v>22.46</c:v>
                </c:pt>
                <c:pt idx="21">
                  <c:v>19.52</c:v>
                </c:pt>
                <c:pt idx="22">
                  <c:v>20.64</c:v>
                </c:pt>
                <c:pt idx="23">
                  <c:v>21.54</c:v>
                </c:pt>
                <c:pt idx="24">
                  <c:v>28.04</c:v>
                </c:pt>
                <c:pt idx="25">
                  <c:v>25.74</c:v>
                </c:pt>
                <c:pt idx="26">
                  <c:v>21.02</c:v>
                </c:pt>
                <c:pt idx="27">
                  <c:v>26.94</c:v>
                </c:pt>
                <c:pt idx="28">
                  <c:v>28.84</c:v>
                </c:pt>
                <c:pt idx="29">
                  <c:v>34.42</c:v>
                </c:pt>
                <c:pt idx="30">
                  <c:v>25.16</c:v>
                </c:pt>
                <c:pt idx="31">
                  <c:v>25.88</c:v>
                </c:pt>
                <c:pt idx="32">
                  <c:v>31.9</c:v>
                </c:pt>
                <c:pt idx="33">
                  <c:v>26.22</c:v>
                </c:pt>
                <c:pt idx="34">
                  <c:v>24.86</c:v>
                </c:pt>
                <c:pt idx="35">
                  <c:v>23.52</c:v>
                </c:pt>
                <c:pt idx="36">
                  <c:v>23.16</c:v>
                </c:pt>
                <c:pt idx="37">
                  <c:v>21.32</c:v>
                </c:pt>
                <c:pt idx="38">
                  <c:v>19.16</c:v>
                </c:pt>
                <c:pt idx="39">
                  <c:v>18.26</c:v>
                </c:pt>
                <c:pt idx="40">
                  <c:v>18.3</c:v>
                </c:pt>
                <c:pt idx="41">
                  <c:v>16.86</c:v>
                </c:pt>
                <c:pt idx="42">
                  <c:v>17.6</c:v>
                </c:pt>
                <c:pt idx="43">
                  <c:v>19.24</c:v>
                </c:pt>
                <c:pt idx="44">
                  <c:v>16.2</c:v>
                </c:pt>
                <c:pt idx="45">
                  <c:v>16.3</c:v>
                </c:pt>
                <c:pt idx="46">
                  <c:v>14.5</c:v>
                </c:pt>
                <c:pt idx="47">
                  <c:v>12.54</c:v>
                </c:pt>
                <c:pt idx="48">
                  <c:v>9.74</c:v>
                </c:pt>
                <c:pt idx="49">
                  <c:v>7.3</c:v>
                </c:pt>
                <c:pt idx="50">
                  <c:v>8.38</c:v>
                </c:pt>
                <c:pt idx="51">
                  <c:v>13.4</c:v>
                </c:pt>
                <c:pt idx="52">
                  <c:v>12.7</c:v>
                </c:pt>
                <c:pt idx="53">
                  <c:v>13</c:v>
                </c:pt>
                <c:pt idx="54">
                  <c:v>12.42</c:v>
                </c:pt>
                <c:pt idx="55">
                  <c:v>6.96</c:v>
                </c:pt>
                <c:pt idx="56">
                  <c:v>8.6</c:v>
                </c:pt>
                <c:pt idx="57">
                  <c:v>12.08</c:v>
                </c:pt>
                <c:pt idx="58">
                  <c:v>10.5</c:v>
                </c:pt>
                <c:pt idx="59">
                  <c:v>13.62</c:v>
                </c:pt>
                <c:pt idx="60">
                  <c:v>12.66</c:v>
                </c:pt>
                <c:pt idx="61">
                  <c:v>8.46</c:v>
                </c:pt>
                <c:pt idx="62">
                  <c:v>11.22</c:v>
                </c:pt>
                <c:pt idx="63">
                  <c:v>13.98</c:v>
                </c:pt>
                <c:pt idx="64">
                  <c:v>13.94</c:v>
                </c:pt>
                <c:pt idx="65">
                  <c:v>14.64</c:v>
                </c:pt>
                <c:pt idx="66">
                  <c:v>14.72</c:v>
                </c:pt>
                <c:pt idx="67">
                  <c:v>14.64</c:v>
                </c:pt>
                <c:pt idx="68">
                  <c:v>15.66</c:v>
                </c:pt>
                <c:pt idx="69">
                  <c:v>17.08</c:v>
                </c:pt>
                <c:pt idx="70">
                  <c:v>18.92</c:v>
                </c:pt>
                <c:pt idx="71">
                  <c:v>18.48</c:v>
                </c:pt>
                <c:pt idx="72">
                  <c:v>19.26</c:v>
                </c:pt>
                <c:pt idx="73">
                  <c:v>20.86</c:v>
                </c:pt>
                <c:pt idx="74">
                  <c:v>21.54</c:v>
                </c:pt>
                <c:pt idx="75">
                  <c:v>28.52</c:v>
                </c:pt>
                <c:pt idx="76">
                  <c:v>29.3</c:v>
                </c:pt>
                <c:pt idx="77">
                  <c:v>25.52</c:v>
                </c:pt>
                <c:pt idx="78">
                  <c:v>25.64</c:v>
                </c:pt>
                <c:pt idx="79">
                  <c:v>26.84</c:v>
                </c:pt>
                <c:pt idx="80">
                  <c:v>22.52</c:v>
                </c:pt>
                <c:pt idx="81">
                  <c:v>21.76</c:v>
                </c:pt>
                <c:pt idx="82">
                  <c:v>22.68</c:v>
                </c:pt>
                <c:pt idx="83">
                  <c:v>21.3</c:v>
                </c:pt>
                <c:pt idx="84">
                  <c:v>24.84</c:v>
                </c:pt>
                <c:pt idx="85">
                  <c:v>23.66</c:v>
                </c:pt>
                <c:pt idx="86">
                  <c:v>23.38</c:v>
                </c:pt>
                <c:pt idx="87">
                  <c:v>23.22</c:v>
                </c:pt>
                <c:pt idx="88">
                  <c:v>29.64</c:v>
                </c:pt>
                <c:pt idx="89">
                  <c:v>25.46</c:v>
                </c:pt>
                <c:pt idx="90">
                  <c:v>20.46</c:v>
                </c:pt>
                <c:pt idx="91">
                  <c:v>20.92</c:v>
                </c:pt>
                <c:pt idx="92">
                  <c:v>22.54</c:v>
                </c:pt>
                <c:pt idx="93">
                  <c:v>22.8</c:v>
                </c:pt>
                <c:pt idx="94">
                  <c:v>17.8</c:v>
                </c:pt>
                <c:pt idx="95">
                  <c:v>15.4</c:v>
                </c:pt>
                <c:pt idx="96">
                  <c:v>14.8</c:v>
                </c:pt>
                <c:pt idx="97">
                  <c:v>13.14</c:v>
                </c:pt>
                <c:pt idx="98">
                  <c:v>14.86</c:v>
                </c:pt>
                <c:pt idx="99">
                  <c:v>14</c:v>
                </c:pt>
                <c:pt idx="100">
                  <c:v>9</c:v>
                </c:pt>
                <c:pt idx="101">
                  <c:v>12.38</c:v>
                </c:pt>
                <c:pt idx="102">
                  <c:v>11.96</c:v>
                </c:pt>
                <c:pt idx="103">
                  <c:v>12.64</c:v>
                </c:pt>
                <c:pt idx="104">
                  <c:v>12.96</c:v>
                </c:pt>
                <c:pt idx="105">
                  <c:v>11.58</c:v>
                </c:pt>
                <c:pt idx="106">
                  <c:v>6.16</c:v>
                </c:pt>
                <c:pt idx="107">
                  <c:v>8.56</c:v>
                </c:pt>
                <c:pt idx="108">
                  <c:v>12.78</c:v>
                </c:pt>
                <c:pt idx="109">
                  <c:v>13.1</c:v>
                </c:pt>
                <c:pt idx="110">
                  <c:v>12.56</c:v>
                </c:pt>
                <c:pt idx="111">
                  <c:v>15.24</c:v>
                </c:pt>
                <c:pt idx="112">
                  <c:v>13.62</c:v>
                </c:pt>
                <c:pt idx="113">
                  <c:v>11.3</c:v>
                </c:pt>
                <c:pt idx="114">
                  <c:v>11.88</c:v>
                </c:pt>
                <c:pt idx="115">
                  <c:v>14.66</c:v>
                </c:pt>
                <c:pt idx="116">
                  <c:v>15.3</c:v>
                </c:pt>
                <c:pt idx="117">
                  <c:v>13.54</c:v>
                </c:pt>
                <c:pt idx="118">
                  <c:v>17.22</c:v>
                </c:pt>
                <c:pt idx="119">
                  <c:v>18.32</c:v>
                </c:pt>
                <c:pt idx="120">
                  <c:v>15.14</c:v>
                </c:pt>
                <c:pt idx="121">
                  <c:v>13.18</c:v>
                </c:pt>
                <c:pt idx="122">
                  <c:v>18.02</c:v>
                </c:pt>
                <c:pt idx="123">
                  <c:v>22.88</c:v>
                </c:pt>
                <c:pt idx="124">
                  <c:v>23.58</c:v>
                </c:pt>
                <c:pt idx="125">
                  <c:v>20.42</c:v>
                </c:pt>
                <c:pt idx="126">
                  <c:v>20.54</c:v>
                </c:pt>
                <c:pt idx="127">
                  <c:v>21.18</c:v>
                </c:pt>
                <c:pt idx="128">
                  <c:v>18.44</c:v>
                </c:pt>
                <c:pt idx="129">
                  <c:v>23.12</c:v>
                </c:pt>
                <c:pt idx="130">
                  <c:v>26.46</c:v>
                </c:pt>
                <c:pt idx="131">
                  <c:v>20.84</c:v>
                </c:pt>
                <c:pt idx="132">
                  <c:v>21.4</c:v>
                </c:pt>
                <c:pt idx="133">
                  <c:v>26.84</c:v>
                </c:pt>
                <c:pt idx="134">
                  <c:v>23.32</c:v>
                </c:pt>
                <c:pt idx="135">
                  <c:v>27.54</c:v>
                </c:pt>
                <c:pt idx="136">
                  <c:v>24.62</c:v>
                </c:pt>
                <c:pt idx="137">
                  <c:v>25.86</c:v>
                </c:pt>
                <c:pt idx="138">
                  <c:v>22.08</c:v>
                </c:pt>
                <c:pt idx="139">
                  <c:v>23.84</c:v>
                </c:pt>
                <c:pt idx="140">
                  <c:v>25.9</c:v>
                </c:pt>
                <c:pt idx="141">
                  <c:v>19.44</c:v>
                </c:pt>
                <c:pt idx="142">
                  <c:v>23.22</c:v>
                </c:pt>
                <c:pt idx="143">
                  <c:v>18.72</c:v>
                </c:pt>
                <c:pt idx="144">
                  <c:v>17.16</c:v>
                </c:pt>
                <c:pt idx="145">
                  <c:v>17.6</c:v>
                </c:pt>
                <c:pt idx="146">
                  <c:v>18.72</c:v>
                </c:pt>
                <c:pt idx="147">
                  <c:v>17.12</c:v>
                </c:pt>
                <c:pt idx="148">
                  <c:v>16.14</c:v>
                </c:pt>
                <c:pt idx="149">
                  <c:v>13.1</c:v>
                </c:pt>
                <c:pt idx="150">
                  <c:v>13.56</c:v>
                </c:pt>
                <c:pt idx="151">
                  <c:v>13.76</c:v>
                </c:pt>
                <c:pt idx="152">
                  <c:v>15.76</c:v>
                </c:pt>
                <c:pt idx="153">
                  <c:v>13.16</c:v>
                </c:pt>
                <c:pt idx="154">
                  <c:v>9.88</c:v>
                </c:pt>
                <c:pt idx="155">
                  <c:v>13.68</c:v>
                </c:pt>
                <c:pt idx="156">
                  <c:v>11.96</c:v>
                </c:pt>
                <c:pt idx="157">
                  <c:v>11.54</c:v>
                </c:pt>
                <c:pt idx="158">
                  <c:v>9.34</c:v>
                </c:pt>
                <c:pt idx="159">
                  <c:v>11.05</c:v>
                </c:pt>
                <c:pt idx="160">
                  <c:v>9.92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5"/>
            </a:solidFill>
            <a:prstDash val="solid"/>
            <a:round/>
          </a:ln>
        </c:spPr>
        <c:txPr>
          <a:bodyPr/>
          <a:lstStyle/>
          <a:p>
            <a:pPr>
              <a:defRPr sz="1100" b="0" i="0" u="none" strike="noStrike">
                <a:solidFill>
                  <a:srgbClr val="5B6B70"/>
                </a:solidFill>
                <a:latin typeface="+mn-lt"/>
              </a:defRPr>
            </a:pPr>
            <a:endParaRPr lang="en-US"/>
          </a:p>
        </c:txPr>
        <c:crossAx val="2094734552"/>
        <c:crosses val="autoZero"/>
        <c:auto val="1"/>
        <c:lblAlgn val="ctr"/>
        <c:noMultiLvlLbl val="1"/>
        <c:tickLblSkip val="13"/>
      </c:catAx>
      <c:valAx>
        <c:axId val="2094734552"/>
        <c:scaling>
          <c:orientation val="minMax"/>
        </c:scaling>
        <c:delete val="0"/>
        <c:axPos val="l"/>
        <c:majorGridlines>
          <c:spPr>
            <a:ln w="9525" cap="flat">
              <a:solidFill>
                <a:srgbClr val="E1E8E9"/>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B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0B3C49"/>
                </a:solidFill>
                <a:latin typeface="+mn-lt"/>
              </a:defRPr>
            </a:pPr>
            <a:r>
              <a:rPr sz="1300" b="0" i="0" u="none" strike="noStrike">
                <a:solidFill>
                  <a:srgbClr val="0B3C49"/>
                </a:solidFill>
                <a:latin typeface="+mn-lt"/>
              </a:rPr>
              <a:t>Average weekly volume by driver, per month (million kg)</a:t>
            </a:r>
          </a:p>
        </c:rich>
      </c:tx>
      <c:layout/>
      <c:overlay val="0"/>
    </c:title>
    <c:autoTitleDeleted val="0"/>
    <c:plotArea>
      <c:layout/>
      <c:areaChart>
        <c:grouping val="stacked"/>
        <c:varyColors val="0"/>
        <c:ser>
          <c:idx val="0"/>
          <c:order val="0"/>
          <c:tx>
            <c:strRef>
              <c:f>Sheet1!$B$1</c:f>
              <c:strCache>
                <c:ptCount val="1"/>
                <c:pt idx="0">
                  <c:v>Base (brand, price, distribution)</c:v>
                </c:pt>
              </c:strCache>
            </c:strRef>
          </c:tx>
          <c:spPr>
            <a:solidFill>
              <a:srgbClr val="7FB7B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Sheet1!$A$2:$A$37</c:f>
              <c:multiLvlStrCache>
                <c:ptCount val="36"/>
                <c:lvl>
                  <c:pt idx="0">
                    <c:v>Jan 22</c:v>
                  </c:pt>
                  <c:pt idx="1">
                    <c:v>Feb 22</c:v>
                  </c:pt>
                  <c:pt idx="2">
                    <c:v>Mar 22</c:v>
                  </c:pt>
                  <c:pt idx="3">
                    <c:v>Apr 22</c:v>
                  </c:pt>
                  <c:pt idx="4">
                    <c:v>May 22</c:v>
                  </c:pt>
                  <c:pt idx="5">
                    <c:v>Jun 22</c:v>
                  </c:pt>
                  <c:pt idx="6">
                    <c:v>Jul 22</c:v>
                  </c:pt>
                  <c:pt idx="7">
                    <c:v>Aug 22</c:v>
                  </c:pt>
                  <c:pt idx="8">
                    <c:v>Sep 22</c:v>
                  </c:pt>
                  <c:pt idx="9">
                    <c:v>Oct 22</c:v>
                  </c:pt>
                  <c:pt idx="10">
                    <c:v>Nov 22</c:v>
                  </c:pt>
                  <c:pt idx="11">
                    <c:v>Dec 22</c:v>
                  </c:pt>
                  <c:pt idx="12">
                    <c:v>Jan 23</c:v>
                  </c:pt>
                  <c:pt idx="13">
                    <c:v>Feb 23</c:v>
                  </c:pt>
                  <c:pt idx="14">
                    <c:v>Mar 23</c:v>
                  </c:pt>
                  <c:pt idx="15">
                    <c:v>Apr 23</c:v>
                  </c:pt>
                  <c:pt idx="16">
                    <c:v>May 23</c:v>
                  </c:pt>
                  <c:pt idx="17">
                    <c:v>Jun 23</c:v>
                  </c:pt>
                  <c:pt idx="18">
                    <c:v>Jul 23</c:v>
                  </c:pt>
                  <c:pt idx="19">
                    <c:v>Aug 23</c:v>
                  </c:pt>
                  <c:pt idx="20">
                    <c:v>Sep 23</c:v>
                  </c:pt>
                  <c:pt idx="21">
                    <c:v>Oct 23</c:v>
                  </c:pt>
                  <c:pt idx="22">
                    <c:v>Nov 23</c:v>
                  </c:pt>
                  <c:pt idx="23">
                    <c:v>Dec 23</c:v>
                  </c:pt>
                  <c:pt idx="24">
                    <c:v>Jan 24</c:v>
                  </c:pt>
                  <c:pt idx="25">
                    <c:v>Feb 24</c:v>
                  </c:pt>
                  <c:pt idx="26">
                    <c:v>Mar 24</c:v>
                  </c:pt>
                  <c:pt idx="27">
                    <c:v>Apr 24</c:v>
                  </c:pt>
                  <c:pt idx="28">
                    <c:v>May 24</c:v>
                  </c:pt>
                  <c:pt idx="29">
                    <c:v>Jun 24</c:v>
                  </c:pt>
                  <c:pt idx="30">
                    <c:v>Jul 24</c:v>
                  </c:pt>
                  <c:pt idx="31">
                    <c:v>Aug 24</c:v>
                  </c:pt>
                  <c:pt idx="32">
                    <c:v>Sep 24</c:v>
                  </c:pt>
                  <c:pt idx="33">
                    <c:v>Oct 24</c:v>
                  </c:pt>
                  <c:pt idx="34">
                    <c:v>Nov 24</c:v>
                  </c:pt>
                  <c:pt idx="35">
                    <c:v>Dec 24</c:v>
                  </c:pt>
                </c:lvl>
              </c:multiLvlStrCache>
            </c:multiLvlStrRef>
          </c:cat>
          <c:val>
            <c:numRef>
              <c:f>Sheet1!$B$2:$B$37</c:f>
              <c:numCache>
                <c:formatCode>General</c:formatCode>
                <c:ptCount val="36"/>
                <c:pt idx="0">
                  <c:v>2.67</c:v>
                </c:pt>
                <c:pt idx="1">
                  <c:v>2.733</c:v>
                </c:pt>
                <c:pt idx="2">
                  <c:v>2.847</c:v>
                </c:pt>
                <c:pt idx="3">
                  <c:v>2.702</c:v>
                </c:pt>
                <c:pt idx="4">
                  <c:v>2.685</c:v>
                </c:pt>
                <c:pt idx="5">
                  <c:v>2.472</c:v>
                </c:pt>
                <c:pt idx="6">
                  <c:v>2.297</c:v>
                </c:pt>
                <c:pt idx="7">
                  <c:v>2.202</c:v>
                </c:pt>
                <c:pt idx="8">
                  <c:v>2.087</c:v>
                </c:pt>
                <c:pt idx="9">
                  <c:v>2.068</c:v>
                </c:pt>
                <c:pt idx="10">
                  <c:v>2.324</c:v>
                </c:pt>
                <c:pt idx="11">
                  <c:v>2.273</c:v>
                </c:pt>
                <c:pt idx="12">
                  <c:v>2.452</c:v>
                </c:pt>
                <c:pt idx="13">
                  <c:v>2.305</c:v>
                </c:pt>
                <c:pt idx="14">
                  <c:v>2.214</c:v>
                </c:pt>
                <c:pt idx="15">
                  <c:v>2.287</c:v>
                </c:pt>
                <c:pt idx="16">
                  <c:v>2.35</c:v>
                </c:pt>
                <c:pt idx="17">
                  <c:v>2.415</c:v>
                </c:pt>
                <c:pt idx="18">
                  <c:v>2.267</c:v>
                </c:pt>
                <c:pt idx="19">
                  <c:v>2.322</c:v>
                </c:pt>
                <c:pt idx="20">
                  <c:v>2.275</c:v>
                </c:pt>
                <c:pt idx="21">
                  <c:v>2.29</c:v>
                </c:pt>
                <c:pt idx="22">
                  <c:v>2.353</c:v>
                </c:pt>
                <c:pt idx="23">
                  <c:v>2.2</c:v>
                </c:pt>
                <c:pt idx="24">
                  <c:v>2.364</c:v>
                </c:pt>
                <c:pt idx="25">
                  <c:v>2.315</c:v>
                </c:pt>
                <c:pt idx="26">
                  <c:v>2.408</c:v>
                </c:pt>
                <c:pt idx="27">
                  <c:v>2.341</c:v>
                </c:pt>
                <c:pt idx="28">
                  <c:v>2.479</c:v>
                </c:pt>
                <c:pt idx="29">
                  <c:v>2.704</c:v>
                </c:pt>
                <c:pt idx="30">
                  <c:v>2.703</c:v>
                </c:pt>
                <c:pt idx="31">
                  <c:v>2.751</c:v>
                </c:pt>
                <c:pt idx="32">
                  <c:v>2.639</c:v>
                </c:pt>
                <c:pt idx="33">
                  <c:v>2.632</c:v>
                </c:pt>
                <c:pt idx="34">
                  <c:v>2.632</c:v>
                </c:pt>
                <c:pt idx="35">
                  <c:v>2.352</c:v>
                </c:pt>
              </c:numCache>
            </c:numRef>
          </c:val>
        </c:ser>
        <c:ser>
          <c:idx val="1"/>
          <c:order val="1"/>
          <c:tx>
            <c:strRef>
              <c:f>Sheet1!$C$1</c:f>
              <c:strCache>
                <c:ptCount val="1"/>
                <c:pt idx="0">
                  <c:v>Weather</c:v>
                </c:pt>
              </c:strCache>
            </c:strRef>
          </c:tx>
          <c:spPr>
            <a:solidFill>
              <a:srgbClr val="F2A54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Sheet1!$A$2:$A$37</c:f>
              <c:multiLvlStrCache>
                <c:ptCount val="36"/>
                <c:lvl>
                  <c:pt idx="0">
                    <c:v>Jan 22</c:v>
                  </c:pt>
                  <c:pt idx="1">
                    <c:v>Feb 22</c:v>
                  </c:pt>
                  <c:pt idx="2">
                    <c:v>Mar 22</c:v>
                  </c:pt>
                  <c:pt idx="3">
                    <c:v>Apr 22</c:v>
                  </c:pt>
                  <c:pt idx="4">
                    <c:v>May 22</c:v>
                  </c:pt>
                  <c:pt idx="5">
                    <c:v>Jun 22</c:v>
                  </c:pt>
                  <c:pt idx="6">
                    <c:v>Jul 22</c:v>
                  </c:pt>
                  <c:pt idx="7">
                    <c:v>Aug 22</c:v>
                  </c:pt>
                  <c:pt idx="8">
                    <c:v>Sep 22</c:v>
                  </c:pt>
                  <c:pt idx="9">
                    <c:v>Oct 22</c:v>
                  </c:pt>
                  <c:pt idx="10">
                    <c:v>Nov 22</c:v>
                  </c:pt>
                  <c:pt idx="11">
                    <c:v>Dec 22</c:v>
                  </c:pt>
                  <c:pt idx="12">
                    <c:v>Jan 23</c:v>
                  </c:pt>
                  <c:pt idx="13">
                    <c:v>Feb 23</c:v>
                  </c:pt>
                  <c:pt idx="14">
                    <c:v>Mar 23</c:v>
                  </c:pt>
                  <c:pt idx="15">
                    <c:v>Apr 23</c:v>
                  </c:pt>
                  <c:pt idx="16">
                    <c:v>May 23</c:v>
                  </c:pt>
                  <c:pt idx="17">
                    <c:v>Jun 23</c:v>
                  </c:pt>
                  <c:pt idx="18">
                    <c:v>Jul 23</c:v>
                  </c:pt>
                  <c:pt idx="19">
                    <c:v>Aug 23</c:v>
                  </c:pt>
                  <c:pt idx="20">
                    <c:v>Sep 23</c:v>
                  </c:pt>
                  <c:pt idx="21">
                    <c:v>Oct 23</c:v>
                  </c:pt>
                  <c:pt idx="22">
                    <c:v>Nov 23</c:v>
                  </c:pt>
                  <c:pt idx="23">
                    <c:v>Dec 23</c:v>
                  </c:pt>
                  <c:pt idx="24">
                    <c:v>Jan 24</c:v>
                  </c:pt>
                  <c:pt idx="25">
                    <c:v>Feb 24</c:v>
                  </c:pt>
                  <c:pt idx="26">
                    <c:v>Mar 24</c:v>
                  </c:pt>
                  <c:pt idx="27">
                    <c:v>Apr 24</c:v>
                  </c:pt>
                  <c:pt idx="28">
                    <c:v>May 24</c:v>
                  </c:pt>
                  <c:pt idx="29">
                    <c:v>Jun 24</c:v>
                  </c:pt>
                  <c:pt idx="30">
                    <c:v>Jul 24</c:v>
                  </c:pt>
                  <c:pt idx="31">
                    <c:v>Aug 24</c:v>
                  </c:pt>
                  <c:pt idx="32">
                    <c:v>Sep 24</c:v>
                  </c:pt>
                  <c:pt idx="33">
                    <c:v>Oct 24</c:v>
                  </c:pt>
                  <c:pt idx="34">
                    <c:v>Nov 24</c:v>
                  </c:pt>
                  <c:pt idx="35">
                    <c:v>Dec 24</c:v>
                  </c:pt>
                </c:lvl>
              </c:multiLvlStrCache>
            </c:multiLvlStrRef>
          </c:cat>
          <c:val>
            <c:numRef>
              <c:f>Sheet1!$C$2:$C$37</c:f>
              <c:numCache>
                <c:formatCode>General</c:formatCode>
                <c:ptCount val="36"/>
                <c:pt idx="0">
                  <c:v>0.232</c:v>
                </c:pt>
                <c:pt idx="1">
                  <c:v>0.218</c:v>
                </c:pt>
                <c:pt idx="2">
                  <c:v>0.414</c:v>
                </c:pt>
                <c:pt idx="3">
                  <c:v>0.559</c:v>
                </c:pt>
                <c:pt idx="4">
                  <c:v>0.839</c:v>
                </c:pt>
                <c:pt idx="5">
                  <c:v>1.277</c:v>
                </c:pt>
                <c:pt idx="6">
                  <c:v>1.696</c:v>
                </c:pt>
                <c:pt idx="7">
                  <c:v>1.609</c:v>
                </c:pt>
                <c:pt idx="8">
                  <c:v>0.763</c:v>
                </c:pt>
                <c:pt idx="9">
                  <c:v>0.413</c:v>
                </c:pt>
                <c:pt idx="10">
                  <c:v>0.252</c:v>
                </c:pt>
                <c:pt idx="11">
                  <c:v>0.116</c:v>
                </c:pt>
                <c:pt idx="12">
                  <c:v>0.089</c:v>
                </c:pt>
                <c:pt idx="13">
                  <c:v>0.249</c:v>
                </c:pt>
                <c:pt idx="14">
                  <c:v>0.155</c:v>
                </c:pt>
                <c:pt idx="15">
                  <c:v>0.354</c:v>
                </c:pt>
                <c:pt idx="16">
                  <c:v>0.633</c:v>
                </c:pt>
                <c:pt idx="17">
                  <c:v>1.595</c:v>
                </c:pt>
                <c:pt idx="18">
                  <c:v>1.058</c:v>
                </c:pt>
                <c:pt idx="19">
                  <c:v>1.017</c:v>
                </c:pt>
                <c:pt idx="20">
                  <c:v>1.13</c:v>
                </c:pt>
                <c:pt idx="21">
                  <c:v>0.625</c:v>
                </c:pt>
                <c:pt idx="22">
                  <c:v>0.221</c:v>
                </c:pt>
                <c:pt idx="23">
                  <c:v>0.131</c:v>
                </c:pt>
                <c:pt idx="24">
                  <c:v>0.068</c:v>
                </c:pt>
                <c:pt idx="25">
                  <c:v>0.23</c:v>
                </c:pt>
                <c:pt idx="26">
                  <c:v>0.238</c:v>
                </c:pt>
                <c:pt idx="27">
                  <c:v>0.384</c:v>
                </c:pt>
                <c:pt idx="28">
                  <c:v>0.835</c:v>
                </c:pt>
                <c:pt idx="29">
                  <c:v>1.083</c:v>
                </c:pt>
                <c:pt idx="30">
                  <c:v>1.172</c:v>
                </c:pt>
                <c:pt idx="31">
                  <c:v>1.466</c:v>
                </c:pt>
                <c:pt idx="32">
                  <c:v>0.961</c:v>
                </c:pt>
                <c:pt idx="33">
                  <c:v>0.49</c:v>
                </c:pt>
                <c:pt idx="34">
                  <c:v>0.373</c:v>
                </c:pt>
                <c:pt idx="35">
                  <c:v>0.216</c:v>
                </c:pt>
              </c:numCache>
            </c:numRef>
          </c:val>
        </c:ser>
        <c:ser>
          <c:idx val="2"/>
          <c:order val="2"/>
          <c:tx>
            <c:strRef>
              <c:f>Sheet1!$D$1</c:f>
              <c:strCache>
                <c:ptCount val="1"/>
                <c:pt idx="0">
                  <c:v>Media</c:v>
                </c:pt>
              </c:strCache>
            </c:strRef>
          </c:tx>
          <c:spPr>
            <a:solidFill>
              <a:srgbClr val="E457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Sheet1!$A$2:$A$37</c:f>
              <c:multiLvlStrCache>
                <c:ptCount val="36"/>
                <c:lvl>
                  <c:pt idx="0">
                    <c:v>Jan 22</c:v>
                  </c:pt>
                  <c:pt idx="1">
                    <c:v>Feb 22</c:v>
                  </c:pt>
                  <c:pt idx="2">
                    <c:v>Mar 22</c:v>
                  </c:pt>
                  <c:pt idx="3">
                    <c:v>Apr 22</c:v>
                  </c:pt>
                  <c:pt idx="4">
                    <c:v>May 22</c:v>
                  </c:pt>
                  <c:pt idx="5">
                    <c:v>Jun 22</c:v>
                  </c:pt>
                  <c:pt idx="6">
                    <c:v>Jul 22</c:v>
                  </c:pt>
                  <c:pt idx="7">
                    <c:v>Aug 22</c:v>
                  </c:pt>
                  <c:pt idx="8">
                    <c:v>Sep 22</c:v>
                  </c:pt>
                  <c:pt idx="9">
                    <c:v>Oct 22</c:v>
                  </c:pt>
                  <c:pt idx="10">
                    <c:v>Nov 22</c:v>
                  </c:pt>
                  <c:pt idx="11">
                    <c:v>Dec 22</c:v>
                  </c:pt>
                  <c:pt idx="12">
                    <c:v>Jan 23</c:v>
                  </c:pt>
                  <c:pt idx="13">
                    <c:v>Feb 23</c:v>
                  </c:pt>
                  <c:pt idx="14">
                    <c:v>Mar 23</c:v>
                  </c:pt>
                  <c:pt idx="15">
                    <c:v>Apr 23</c:v>
                  </c:pt>
                  <c:pt idx="16">
                    <c:v>May 23</c:v>
                  </c:pt>
                  <c:pt idx="17">
                    <c:v>Jun 23</c:v>
                  </c:pt>
                  <c:pt idx="18">
                    <c:v>Jul 23</c:v>
                  </c:pt>
                  <c:pt idx="19">
                    <c:v>Aug 23</c:v>
                  </c:pt>
                  <c:pt idx="20">
                    <c:v>Sep 23</c:v>
                  </c:pt>
                  <c:pt idx="21">
                    <c:v>Oct 23</c:v>
                  </c:pt>
                  <c:pt idx="22">
                    <c:v>Nov 23</c:v>
                  </c:pt>
                  <c:pt idx="23">
                    <c:v>Dec 23</c:v>
                  </c:pt>
                  <c:pt idx="24">
                    <c:v>Jan 24</c:v>
                  </c:pt>
                  <c:pt idx="25">
                    <c:v>Feb 24</c:v>
                  </c:pt>
                  <c:pt idx="26">
                    <c:v>Mar 24</c:v>
                  </c:pt>
                  <c:pt idx="27">
                    <c:v>Apr 24</c:v>
                  </c:pt>
                  <c:pt idx="28">
                    <c:v>May 24</c:v>
                  </c:pt>
                  <c:pt idx="29">
                    <c:v>Jun 24</c:v>
                  </c:pt>
                  <c:pt idx="30">
                    <c:v>Jul 24</c:v>
                  </c:pt>
                  <c:pt idx="31">
                    <c:v>Aug 24</c:v>
                  </c:pt>
                  <c:pt idx="32">
                    <c:v>Sep 24</c:v>
                  </c:pt>
                  <c:pt idx="33">
                    <c:v>Oct 24</c:v>
                  </c:pt>
                  <c:pt idx="34">
                    <c:v>Nov 24</c:v>
                  </c:pt>
                  <c:pt idx="35">
                    <c:v>Dec 24</c:v>
                  </c:pt>
                </c:lvl>
              </c:multiLvlStrCache>
            </c:multiLvlStrRef>
          </c:cat>
          <c:val>
            <c:numRef>
              <c:f>Sheet1!$D$2:$D$37</c:f>
              <c:numCache>
                <c:formatCode>General</c:formatCode>
                <c:ptCount val="3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0.096</c:v>
                </c:pt>
                <c:pt idx="15">
                  <c:v>0.163</c:v>
                </c:pt>
                <c:pt idx="16">
                  <c:v>0.173</c:v>
                </c:pt>
                <c:pt idx="17">
                  <c:v>0.044</c:v>
                </c:pt>
                <c:pt idx="18">
                  <c:v>0</c:v>
                </c:pt>
                <c:pt idx="19">
                  <c:v>0</c:v>
                </c:pt>
                <c:pt idx="20">
                  <c:v>0</c:v>
                </c:pt>
                <c:pt idx="21">
                  <c:v>0</c:v>
                </c:pt>
                <c:pt idx="22">
                  <c:v>0</c:v>
                </c:pt>
                <c:pt idx="23">
                  <c:v>0</c:v>
                </c:pt>
                <c:pt idx="24">
                  <c:v>0</c:v>
                </c:pt>
                <c:pt idx="25">
                  <c:v>0</c:v>
                </c:pt>
                <c:pt idx="26">
                  <c:v>0</c:v>
                </c:pt>
                <c:pt idx="27">
                  <c:v>0.073</c:v>
                </c:pt>
                <c:pt idx="28">
                  <c:v>0.129</c:v>
                </c:pt>
                <c:pt idx="29">
                  <c:v>0.03</c:v>
                </c:pt>
                <c:pt idx="30">
                  <c:v>0.051</c:v>
                </c:pt>
                <c:pt idx="31">
                  <c:v>0.166</c:v>
                </c:pt>
                <c:pt idx="32">
                  <c:v>0.022</c:v>
                </c:pt>
                <c:pt idx="33">
                  <c:v>0.006</c:v>
                </c:pt>
                <c:pt idx="34">
                  <c:v>0.006</c:v>
                </c:pt>
                <c:pt idx="35">
                  <c:v>0.009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C9D3D5"/>
            </a:solidFill>
            <a:prstDash val="solid"/>
            <a:round/>
          </a:ln>
        </c:spPr>
        <c:txPr>
          <a:bodyPr/>
          <a:lstStyle/>
          <a:p>
            <a:pPr>
              <a:defRPr sz="1100" b="0" i="0" u="none" strike="noStrike">
                <a:solidFill>
                  <a:srgbClr val="5B6B70"/>
                </a:solidFill>
                <a:latin typeface="+mn-lt"/>
              </a:defRPr>
            </a:pPr>
            <a:endParaRPr lang="en-US"/>
          </a:p>
        </c:txPr>
        <c:crossAx val="2094734552"/>
        <c:crosses val="autoZero"/>
        <c:auto val="1"/>
        <c:lblAlgn val="ctr"/>
        <c:noMultiLvlLbl val="1"/>
        <c:tickLblSkip val="3"/>
      </c:catAx>
      <c:valAx>
        <c:axId val="2094734552"/>
        <c:scaling>
          <c:orientation val="minMax"/>
          <c:min val="0"/>
        </c:scaling>
        <c:delete val="0"/>
        <c:axPos val="l"/>
        <c:majorGridlines>
          <c:spPr>
            <a:ln w="9525" cap="flat">
              <a:solidFill>
                <a:srgbClr val="E1E8E9"/>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B6B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B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0B3C49"/>
                </a:solidFill>
                <a:latin typeface="+mn-lt"/>
              </a:defRPr>
            </a:pPr>
            <a:r>
              <a:rPr sz="1300" b="0" i="0" u="none" strike="noStrike">
                <a:solidFill>
                  <a:srgbClr val="0B3C49"/>
                </a:solidFill>
                <a:latin typeface="+mn-lt"/>
              </a:rPr>
              <a:t>Revenue return per £1 of media (ROI)</a:t>
            </a:r>
          </a:p>
        </c:rich>
      </c:tx>
      <c:layout/>
      <c:overlay val="0"/>
    </c:title>
    <c:autoTitleDeleted val="0"/>
    <c:plotArea>
      <c:layout/>
      <c:barChart>
        <c:barDir val="bar"/>
        <c:grouping val="clustered"/>
        <c:varyColors val="0"/>
        <c:ser>
          <c:idx val="0"/>
          <c:order val="0"/>
          <c:tx>
            <c:strRef>
              <c:f>Sheet1!$B$1</c:f>
              <c:strCache>
                <c:ptCount val="1"/>
                <c:pt idx="0">
                  <c:v>Revenue per £1</c:v>
                </c:pt>
              </c:strCache>
            </c:strRef>
          </c:tx>
          <c:spPr>
            <a:solidFill>
              <a:srgbClr val="1B7F8C"/>
            </a:solidFill>
            <a:effectLst/>
          </c:spPr>
          <c:invertIfNegative val="0"/>
          <c:dLbls>
            <c:numFmt formatCode="£0.00" sourceLinked="0"/>
            <c:txPr>
              <a:bodyPr/>
              <a:lstStyle/>
              <a:p>
                <a:pPr>
                  <a:defRPr b="0" i="0" strike="noStrike" sz="1200" u="none">
                    <a:solidFill>
                      <a:srgbClr val="13262F"/>
                    </a:solidFill>
                    <a:latin typeface="+mn-lt"/>
                  </a:defRPr>
                </a:pPr>
              </a:p>
            </c:txPr>
            <c:showLegendKey val="0"/>
            <c:showVal val="1"/>
            <c:showCatName val="0"/>
            <c:showSerName val="0"/>
            <c:showPercent val="0"/>
            <c:showBubbleSize val="0"/>
            <c:showLeaderLines val="0"/>
          </c:dLbls>
          <c:dPt>
            <c:idx val="0"/>
            <c:invertIfNegative val="0"/>
            <c:bubble3D val="0"/>
            <c:spPr>
              <a:solidFill>
                <a:srgbClr val="1B7F8C"/>
              </a:solidFill>
              <a:effectLst/>
            </c:spPr>
          </c:dPt>
          <c:dPt>
            <c:idx val="1"/>
            <c:invertIfNegative val="0"/>
            <c:bubble3D val="0"/>
            <c:spPr>
              <a:solidFill>
                <a:srgbClr val="1B7F8C"/>
              </a:solidFill>
              <a:effectLst/>
            </c:spPr>
          </c:dPt>
          <c:dPt>
            <c:idx val="2"/>
            <c:invertIfNegative val="0"/>
            <c:bubble3D val="0"/>
            <c:spPr>
              <a:solidFill>
                <a:srgbClr val="9AA9AD"/>
              </a:solidFill>
              <a:effectLst/>
            </c:spPr>
          </c:dPt>
          <c:dPt>
            <c:idx val="3"/>
            <c:invertIfNegative val="0"/>
            <c:bubble3D val="0"/>
            <c:spPr>
              <a:solidFill>
                <a:srgbClr val="9AA9AD"/>
              </a:solidFill>
              <a:effectLst/>
            </c:spPr>
          </c:dPt>
          <c:cat>
            <c:multiLvlStrRef>
              <c:f>Sheet1!$A$2:$A$5</c:f>
              <c:multiLvlStrCache>
                <c:ptCount val="4"/>
                <c:lvl>
                  <c:pt idx="0">
                    <c:v>OOH</c:v>
                  </c:pt>
                  <c:pt idx="1">
                    <c:v>Online partnership</c:v>
                  </c:pt>
                  <c:pt idx="2">
                    <c:v>Online video</c:v>
                  </c:pt>
                  <c:pt idx="3">
                    <c:v>TV</c:v>
                  </c:pt>
                </c:lvl>
              </c:multiLvlStrCache>
            </c:multiLvlStrRef>
          </c:cat>
          <c:val>
            <c:numRef>
              <c:f>Sheet1!$B$2:$B$5</c:f>
              <c:numCache>
                <c:formatCode>General</c:formatCode>
                <c:ptCount val="4"/>
                <c:pt idx="0">
                  <c:v>5.346205539068978</c:v>
                </c:pt>
                <c:pt idx="1">
                  <c:v>3.0675019658602176</c:v>
                </c:pt>
                <c:pt idx="2">
                  <c:v>0.2912546119215307</c:v>
                </c:pt>
                <c:pt idx="3">
                  <c:v>0.2695751803555015</c:v>
                </c:pt>
              </c:numCache>
            </c:numRef>
          </c:val>
        </c:ser>
        <c:dLbls>
          <c:numFmt formatCode="£0.00" sourceLinked="0"/>
          <c:txPr>
            <a:bodyPr/>
            <a:lstStyle/>
            <a:p>
              <a:pPr>
                <a:defRPr b="0" i="0" strike="noStrike" sz="1200" u="none">
                  <a:solidFill>
                    <a:srgbClr val="13262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D3D5"/>
            </a:solidFill>
            <a:prstDash val="solid"/>
            <a:round/>
          </a:ln>
        </c:spPr>
        <c:txPr>
          <a:bodyPr/>
          <a:lstStyle/>
          <a:p>
            <a:pPr>
              <a:defRPr sz="1100" b="0" i="0" u="none" strike="noStrike">
                <a:solidFill>
                  <a:srgbClr val="5B6B70"/>
                </a:solidFill>
                <a:latin typeface="+mn-lt"/>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E1E8E9"/>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5B6B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0B3C49"/>
                </a:solidFill>
                <a:latin typeface="+mn-lt"/>
              </a:defRPr>
            </a:pPr>
            <a:r>
              <a:rPr sz="1300" b="0" i="0" u="none" strike="noStrike">
                <a:solidFill>
                  <a:srgbClr val="0B3C49"/>
                </a:solidFill>
                <a:latin typeface="+mn-lt"/>
              </a:rPr>
              <a:t>Response curves: incremental revenue (£M) vs total spend</a:t>
            </a:r>
          </a:p>
        </c:rich>
      </c:tx>
      <c:layout/>
      <c:overlay val="0"/>
    </c:title>
    <c:autoTitleDeleted val="0"/>
    <c:plotArea>
      <c:layout/>
      <c:lineChart>
        <c:varyColors val="0"/>
        <c:ser>
          <c:idx val="0"/>
          <c:order val="0"/>
          <c:tx>
            <c:strRef>
              <c:f>Sheet1!$B$1</c:f>
              <c:strCache>
                <c:ptCount val="1"/>
                <c:pt idx="0">
                  <c:v>OOH</c:v>
                </c:pt>
              </c:strCache>
            </c:strRef>
          </c:tx>
          <c:spPr>
            <a:solidFill>
              <a:srgbClr val="F2A541"/>
            </a:solidFill>
            <a:ln w="31750" cap="flat">
              <a:solidFill>
                <a:srgbClr val="F2A5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A541"/>
              </a:solidFill>
              <a:ln w="9525" cap="flat">
                <a:solidFill>
                  <a:srgbClr val="F2A541"/>
                </a:solidFill>
                <a:prstDash val="solid"/>
                <a:round/>
              </a:ln>
              <a:effectLst/>
            </c:spPr>
          </c:marker>
          <c:cat>
            <c:multiLvlStrRef>
              <c:f>Sheet1!$A$2:$A$18</c:f>
              <c:multiLvlStrCache>
                <c:ptCount val="17"/>
                <c:lvl>
                  <c:pt idx="0">
                    <c:v>£0k</c:v>
                  </c:pt>
                  <c:pt idx="1">
                    <c:v>£100k</c:v>
                  </c:pt>
                  <c:pt idx="2">
                    <c:v>£200k</c:v>
                  </c:pt>
                  <c:pt idx="3">
                    <c:v>£300k</c:v>
                  </c:pt>
                  <c:pt idx="4">
                    <c:v>£400k</c:v>
                  </c:pt>
                  <c:pt idx="5">
                    <c:v>£500k</c:v>
                  </c:pt>
                  <c:pt idx="6">
                    <c:v>£600k</c:v>
                  </c:pt>
                  <c:pt idx="7">
                    <c:v>£700k</c:v>
                  </c:pt>
                  <c:pt idx="8">
                    <c:v>£800k</c:v>
                  </c:pt>
                  <c:pt idx="9">
                    <c:v>£900k</c:v>
                  </c:pt>
                  <c:pt idx="10">
                    <c:v>£1.0M</c:v>
                  </c:pt>
                  <c:pt idx="11">
                    <c:v>£1.1M</c:v>
                  </c:pt>
                  <c:pt idx="12">
                    <c:v>£1.2M</c:v>
                  </c:pt>
                  <c:pt idx="13">
                    <c:v>£1.3M</c:v>
                  </c:pt>
                  <c:pt idx="14">
                    <c:v>£1.4M</c:v>
                  </c:pt>
                  <c:pt idx="15">
                    <c:v>£1.5M</c:v>
                  </c:pt>
                  <c:pt idx="16">
                    <c:v>£1.6M</c:v>
                  </c:pt>
                </c:lvl>
              </c:multiLvlStrCache>
            </c:multiLvlStrRef>
          </c:cat>
          <c:val>
            <c:numRef>
              <c:f>Sheet1!$B$2:$B$18</c:f>
              <c:numCache>
                <c:formatCode>General</c:formatCode>
                <c:ptCount val="17"/>
                <c:pt idx="0">
                  <c:v>0</c:v>
                </c:pt>
                <c:pt idx="1">
                  <c:v>0.8319469314945395</c:v>
                </c:pt>
                <c:pt idx="2">
                  <c:v>1.3350615996182695</c:v>
                </c:pt>
                <c:pt idx="3">
                  <c:v>1.7110369476815679</c:v>
                </c:pt>
                <c:pt idx="4">
                  <c:v>2.0156468564693224</c:v>
                </c:pt>
                <c:pt idx="5">
                  <c:v>2.2736886746778913</c:v>
                </c:pt>
                <c:pt idx="6">
                  <c:v>2.498620660265557</c:v>
                </c:pt>
                <c:pt idx="7">
                  <c:v>2.698650318391689</c:v>
                </c:pt>
                <c:pt idx="8">
                  <c:v>2.8791879001093292</c:v>
                </c:pt>
                <c:pt idx="9">
                  <c:v>3.044005145931135</c:v>
                </c:pt>
                <c:pt idx="10">
                  <c:v>3.195845381213603</c:v>
                </c:pt>
                <c:pt idx="11">
                  <c:v>3.3367714587381507</c:v>
                </c:pt>
                <c:pt idx="12">
                  <c:v>3.4683767850464258</c:v>
                </c:pt>
                <c:pt idx="13">
                  <c:v>3.5919197329290724</c:v>
                </c:pt>
                <c:pt idx="14">
                  <c:v>3.708412749345409</c:v>
                </c:pt>
                <c:pt idx="15">
                  <c:v>3.8186834311250264</c:v>
                </c:pt>
                <c:pt idx="16">
                  <c:v>3.923417585451908</c:v>
                </c:pt>
              </c:numCache>
            </c:numRef>
          </c:val>
          <c:smooth val="0"/>
        </c:ser>
        <c:ser>
          <c:idx val="1"/>
          <c:order val="1"/>
          <c:tx>
            <c:strRef>
              <c:f>Sheet1!$C$1</c:f>
              <c:strCache>
                <c:ptCount val="1"/>
                <c:pt idx="0">
                  <c:v>Online partnership</c:v>
                </c:pt>
              </c:strCache>
            </c:strRef>
          </c:tx>
          <c:spPr>
            <a:solidFill>
              <a:srgbClr val="1B7F8C"/>
            </a:solidFill>
            <a:ln w="31750" cap="flat">
              <a:solidFill>
                <a:srgbClr val="1B7F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B7F8C"/>
              </a:solidFill>
              <a:ln w="9525" cap="flat">
                <a:solidFill>
                  <a:srgbClr val="1B7F8C"/>
                </a:solidFill>
                <a:prstDash val="solid"/>
                <a:round/>
              </a:ln>
              <a:effectLst/>
            </c:spPr>
          </c:marker>
          <c:cat>
            <c:multiLvlStrRef>
              <c:f>Sheet1!$A$2:$A$18</c:f>
              <c:multiLvlStrCache>
                <c:ptCount val="17"/>
                <c:lvl>
                  <c:pt idx="0">
                    <c:v>£0k</c:v>
                  </c:pt>
                  <c:pt idx="1">
                    <c:v>£100k</c:v>
                  </c:pt>
                  <c:pt idx="2">
                    <c:v>£200k</c:v>
                  </c:pt>
                  <c:pt idx="3">
                    <c:v>£300k</c:v>
                  </c:pt>
                  <c:pt idx="4">
                    <c:v>£400k</c:v>
                  </c:pt>
                  <c:pt idx="5">
                    <c:v>£500k</c:v>
                  </c:pt>
                  <c:pt idx="6">
                    <c:v>£600k</c:v>
                  </c:pt>
                  <c:pt idx="7">
                    <c:v>£700k</c:v>
                  </c:pt>
                  <c:pt idx="8">
                    <c:v>£800k</c:v>
                  </c:pt>
                  <c:pt idx="9">
                    <c:v>£900k</c:v>
                  </c:pt>
                  <c:pt idx="10">
                    <c:v>£1.0M</c:v>
                  </c:pt>
                  <c:pt idx="11">
                    <c:v>£1.1M</c:v>
                  </c:pt>
                  <c:pt idx="12">
                    <c:v>£1.2M</c:v>
                  </c:pt>
                  <c:pt idx="13">
                    <c:v>£1.3M</c:v>
                  </c:pt>
                  <c:pt idx="14">
                    <c:v>£1.4M</c:v>
                  </c:pt>
                  <c:pt idx="15">
                    <c:v>£1.5M</c:v>
                  </c:pt>
                  <c:pt idx="16">
                    <c:v>£1.6M</c:v>
                  </c:pt>
                </c:lvl>
              </c:multiLvlStrCache>
            </c:multiLvlStrRef>
          </c:cat>
          <c:val>
            <c:numRef>
              <c:f>Sheet1!$C$2:$C$18</c:f>
              <c:numCache>
                <c:formatCode>General</c:formatCode>
                <c:ptCount val="17"/>
                <c:pt idx="0">
                  <c:v>0</c:v>
                </c:pt>
                <c:pt idx="1">
                  <c:v>0.3998429657057434</c:v>
                </c:pt>
                <c:pt idx="2">
                  <c:v>0.7482126060262055</c:v>
                </c:pt>
                <c:pt idx="3">
                  <c:v>1.0572322143920492</c:v>
                </c:pt>
                <c:pt idx="4">
                  <c:v>1.3351551573739784</c:v>
                </c:pt>
                <c:pt idx="5">
                  <c:v>1.5878607479802902</c:v>
                </c:pt>
                <c:pt idx="6">
                  <c:v>1.819689163850761</c:v>
                </c:pt>
                <c:pt idx="7">
                  <c:v>2.03393802013668</c:v>
                </c:pt>
                <c:pt idx="8">
                  <c:v>2.233173086919809</c:v>
                </c:pt>
                <c:pt idx="9">
                  <c:v>2.419430960811252</c:v>
                </c:pt>
                <c:pt idx="10">
                  <c:v>2.5943559258064757</c:v>
                </c:pt>
                <c:pt idx="11">
                  <c:v>2.759295130420172</c:v>
                </c:pt>
                <c:pt idx="12">
                  <c:v>2.915366469424975</c:v>
                </c:pt>
                <c:pt idx="13">
                  <c:v>3.0635080718013317</c:v>
                </c:pt>
                <c:pt idx="14">
                  <c:v>3.2045150797614412</c:v>
                </c:pt>
                <c:pt idx="15">
                  <c:v>3.3390674515550445</c:v>
                </c:pt>
                <c:pt idx="16">
                  <c:v>3.46775129967481</c:v>
                </c:pt>
              </c:numCache>
            </c:numRef>
          </c:val>
          <c:smooth val="0"/>
        </c:ser>
        <c:ser>
          <c:idx val="2"/>
          <c:order val="2"/>
          <c:tx>
            <c:strRef>
              <c:f>Sheet1!$D$1</c:f>
              <c:strCache>
                <c:ptCount val="1"/>
                <c:pt idx="0">
                  <c:v>Online video</c:v>
                </c:pt>
              </c:strCache>
            </c:strRef>
          </c:tx>
          <c:spPr>
            <a:solidFill>
              <a:srgbClr val="3D5A80"/>
            </a:solidFill>
            <a:ln w="31750" cap="flat">
              <a:solidFill>
                <a:srgbClr val="3D5A8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D5A80"/>
              </a:solidFill>
              <a:ln w="9525" cap="flat">
                <a:solidFill>
                  <a:srgbClr val="3D5A80"/>
                </a:solidFill>
                <a:prstDash val="solid"/>
                <a:round/>
              </a:ln>
              <a:effectLst/>
            </c:spPr>
          </c:marker>
          <c:cat>
            <c:multiLvlStrRef>
              <c:f>Sheet1!$A$2:$A$18</c:f>
              <c:multiLvlStrCache>
                <c:ptCount val="17"/>
                <c:lvl>
                  <c:pt idx="0">
                    <c:v>£0k</c:v>
                  </c:pt>
                  <c:pt idx="1">
                    <c:v>£100k</c:v>
                  </c:pt>
                  <c:pt idx="2">
                    <c:v>£200k</c:v>
                  </c:pt>
                  <c:pt idx="3">
                    <c:v>£300k</c:v>
                  </c:pt>
                  <c:pt idx="4">
                    <c:v>£400k</c:v>
                  </c:pt>
                  <c:pt idx="5">
                    <c:v>£500k</c:v>
                  </c:pt>
                  <c:pt idx="6">
                    <c:v>£600k</c:v>
                  </c:pt>
                  <c:pt idx="7">
                    <c:v>£700k</c:v>
                  </c:pt>
                  <c:pt idx="8">
                    <c:v>£800k</c:v>
                  </c:pt>
                  <c:pt idx="9">
                    <c:v>£900k</c:v>
                  </c:pt>
                  <c:pt idx="10">
                    <c:v>£1.0M</c:v>
                  </c:pt>
                  <c:pt idx="11">
                    <c:v>£1.1M</c:v>
                  </c:pt>
                  <c:pt idx="12">
                    <c:v>£1.2M</c:v>
                  </c:pt>
                  <c:pt idx="13">
                    <c:v>£1.3M</c:v>
                  </c:pt>
                  <c:pt idx="14">
                    <c:v>£1.4M</c:v>
                  </c:pt>
                  <c:pt idx="15">
                    <c:v>£1.5M</c:v>
                  </c:pt>
                  <c:pt idx="16">
                    <c:v>£1.6M</c:v>
                  </c:pt>
                </c:lvl>
              </c:multiLvlStrCache>
            </c:multiLvlStrRef>
          </c:cat>
          <c:val>
            <c:numRef>
              <c:f>Sheet1!$D$2:$D$18</c:f>
              <c:numCache>
                <c:formatCode>General</c:formatCode>
                <c:ptCount val="17"/>
                <c:pt idx="0">
                  <c:v>0</c:v>
                </c:pt>
                <c:pt idx="1">
                  <c:v>0.04257599961176346</c:v>
                </c:pt>
                <c:pt idx="2">
                  <c:v>0.08130915024848334</c:v>
                </c:pt>
                <c:pt idx="3">
                  <c:v>0.11691633992483033</c:v>
                </c:pt>
                <c:pt idx="4">
                  <c:v>0.14991868732260633</c:v>
                </c:pt>
                <c:pt idx="5">
                  <c:v>0.18070934348195508</c:v>
                </c:pt>
                <c:pt idx="6">
                  <c:v>0.20959366175703312</c:v>
                </c:pt>
                <c:pt idx="7">
                  <c:v>0.23681441541122744</c:v>
                </c:pt>
                <c:pt idx="8">
                  <c:v>0.26256837307810404</c:v>
                </c:pt>
                <c:pt idx="9">
                  <c:v>0.2870176092698122</c:v>
                </c:pt>
                <c:pt idx="10">
                  <c:v>0.3102974660778736</c:v>
                </c:pt>
                <c:pt idx="11">
                  <c:v>0.3325223067787921</c:v>
                </c:pt>
                <c:pt idx="12">
                  <c:v>0.3537897683549679</c:v>
                </c:pt>
                <c:pt idx="13">
                  <c:v>0.37418396643176033</c:v>
                </c:pt>
                <c:pt idx="14">
                  <c:v>0.39377795225810697</c:v>
                </c:pt>
                <c:pt idx="15">
                  <c:v>0.41263562486470556</c:v>
                </c:pt>
                <c:pt idx="16">
                  <c:v>0.43081323927776166</c:v>
                </c:pt>
              </c:numCache>
            </c:numRef>
          </c:val>
          <c:smooth val="0"/>
        </c:ser>
        <c:ser>
          <c:idx val="3"/>
          <c:order val="3"/>
          <c:tx>
            <c:strRef>
              <c:f>Sheet1!$E$1</c:f>
              <c:strCache>
                <c:ptCount val="1"/>
                <c:pt idx="0">
                  <c:v>TV</c:v>
                </c:pt>
              </c:strCache>
            </c:strRef>
          </c:tx>
          <c:spPr>
            <a:solidFill>
              <a:srgbClr val="E4572E"/>
            </a:solidFill>
            <a:ln w="31750" cap="flat">
              <a:solidFill>
                <a:srgbClr val="E457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4572E"/>
              </a:solidFill>
              <a:ln w="9525" cap="flat">
                <a:solidFill>
                  <a:srgbClr val="E4572E"/>
                </a:solidFill>
                <a:prstDash val="solid"/>
                <a:round/>
              </a:ln>
              <a:effectLst/>
            </c:spPr>
          </c:marker>
          <c:cat>
            <c:multiLvlStrRef>
              <c:f>Sheet1!$A$2:$A$18</c:f>
              <c:multiLvlStrCache>
                <c:ptCount val="17"/>
                <c:lvl>
                  <c:pt idx="0">
                    <c:v>£0k</c:v>
                  </c:pt>
                  <c:pt idx="1">
                    <c:v>£100k</c:v>
                  </c:pt>
                  <c:pt idx="2">
                    <c:v>£200k</c:v>
                  </c:pt>
                  <c:pt idx="3">
                    <c:v>£300k</c:v>
                  </c:pt>
                  <c:pt idx="4">
                    <c:v>£400k</c:v>
                  </c:pt>
                  <c:pt idx="5">
                    <c:v>£500k</c:v>
                  </c:pt>
                  <c:pt idx="6">
                    <c:v>£600k</c:v>
                  </c:pt>
                  <c:pt idx="7">
                    <c:v>£700k</c:v>
                  </c:pt>
                  <c:pt idx="8">
                    <c:v>£800k</c:v>
                  </c:pt>
                  <c:pt idx="9">
                    <c:v>£900k</c:v>
                  </c:pt>
                  <c:pt idx="10">
                    <c:v>£1.0M</c:v>
                  </c:pt>
                  <c:pt idx="11">
                    <c:v>£1.1M</c:v>
                  </c:pt>
                  <c:pt idx="12">
                    <c:v>£1.2M</c:v>
                  </c:pt>
                  <c:pt idx="13">
                    <c:v>£1.3M</c:v>
                  </c:pt>
                  <c:pt idx="14">
                    <c:v>£1.4M</c:v>
                  </c:pt>
                  <c:pt idx="15">
                    <c:v>£1.5M</c:v>
                  </c:pt>
                  <c:pt idx="16">
                    <c:v>£1.6M</c:v>
                  </c:pt>
                </c:lvl>
              </c:multiLvlStrCache>
            </c:multiLvlStrRef>
          </c:cat>
          <c:val>
            <c:numRef>
              <c:f>Sheet1!$E$2:$E$18</c:f>
              <c:numCache>
                <c:formatCode>General</c:formatCode>
                <c:ptCount val="17"/>
                <c:pt idx="0">
                  <c:v>0</c:v>
                </c:pt>
                <c:pt idx="1">
                  <c:v>0.06801805445879307</c:v>
                </c:pt>
                <c:pt idx="2">
                  <c:v>0.09555317743215086</c:v>
                </c:pt>
                <c:pt idx="3">
                  <c:v>0.11398204528266674</c:v>
                </c:pt>
                <c:pt idx="4">
                  <c:v>0.12807504538759507</c:v>
                </c:pt>
                <c:pt idx="5">
                  <c:v>0.1395838541691651</c:v>
                </c:pt>
                <c:pt idx="6">
                  <c:v>0.14936098488087476</c:v>
                </c:pt>
                <c:pt idx="7">
                  <c:v>0.15788977373407764</c:v>
                </c:pt>
                <c:pt idx="8">
                  <c:v>0.1654723570772604</c:v>
                </c:pt>
                <c:pt idx="9">
                  <c:v>0.17231095858208462</c:v>
                </c:pt>
                <c:pt idx="10">
                  <c:v>0.17854796466168327</c:v>
                </c:pt>
                <c:pt idx="11">
                  <c:v>0.1842876333875529</c:v>
                </c:pt>
                <c:pt idx="12">
                  <c:v>0.18960872373421792</c:v>
                </c:pt>
                <c:pt idx="13">
                  <c:v>0.19457226643914696</c:v>
                </c:pt>
                <c:pt idx="14">
                  <c:v>0.19922656717779053</c:v>
                </c:pt>
                <c:pt idx="15">
                  <c:v>0.2036105507037481</c:v>
                </c:pt>
                <c:pt idx="16">
                  <c:v>0.2077560675751805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5"/>
            </a:solidFill>
            <a:prstDash val="solid"/>
            <a:round/>
          </a:ln>
        </c:spPr>
        <c:txPr>
          <a:bodyPr/>
          <a:lstStyle/>
          <a:p>
            <a:pPr>
              <a:defRPr sz="1100" b="0" i="0" u="none" strike="noStrike">
                <a:solidFill>
                  <a:srgbClr val="5B6B70"/>
                </a:solidFill>
                <a:latin typeface="+mn-lt"/>
              </a:defRPr>
            </a:pPr>
            <a:endParaRPr lang="en-US"/>
          </a:p>
        </c:txPr>
        <c:crossAx val="2094734552"/>
        <c:crosses val="autoZero"/>
        <c:auto val="1"/>
        <c:lblAlgn val="ctr"/>
        <c:noMultiLvlLbl val="1"/>
        <c:tickLblSkip val="4"/>
      </c:catAx>
      <c:valAx>
        <c:axId val="2094734552"/>
        <c:scaling>
          <c:orientation val="minMax"/>
          <c:min val="0"/>
        </c:scaling>
        <c:delete val="0"/>
        <c:axPos val="l"/>
        <c:majorGridlines>
          <c:spPr>
            <a:ln w="9525" cap="flat">
              <a:solidFill>
                <a:srgbClr val="E1E8E9"/>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B6B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B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0B3C49"/>
                </a:solidFill>
                <a:latin typeface="+mn-lt"/>
              </a:defRPr>
            </a:pPr>
            <a:r>
              <a:rPr sz="1300" b="0" i="0" u="none" strike="noStrike">
                <a:solidFill>
                  <a:srgbClr val="0B3C49"/>
                </a:solidFill>
                <a:latin typeface="+mn-lt"/>
              </a:rPr>
              <a:t>Why volume changed: contribution by driver (% points)</a:t>
            </a:r>
          </a:p>
        </c:rich>
      </c:tx>
      <c:layout/>
      <c:overlay val="0"/>
    </c:title>
    <c:autoTitleDeleted val="0"/>
    <c:plotArea>
      <c:layout/>
      <c:barChart>
        <c:barDir val="bar"/>
        <c:grouping val="clustered"/>
        <c:varyColors val="0"/>
        <c:ser>
          <c:idx val="0"/>
          <c:order val="0"/>
          <c:tx>
            <c:strRef>
              <c:f>Sheet1!$B$1</c:f>
              <c:strCache>
                <c:ptCount val="1"/>
                <c:pt idx="0">
                  <c:v>2022 → 2023 (volume -5.9%)</c:v>
                </c:pt>
              </c:strCache>
            </c:strRef>
          </c:tx>
          <c:spPr>
            <a:solidFill>
              <a:srgbClr val="9AA9AD"/>
            </a:solidFill>
            <a:effectLst/>
          </c:spPr>
          <c:invertIfNegative val="0"/>
          <c:dLbls>
            <c:numFmt formatCode="+0.0;−0.0;0.0" sourceLinked="0"/>
            <c:txPr>
              <a:bodyPr/>
              <a:lstStyle/>
              <a:p>
                <a:pPr>
                  <a:defRPr b="0" i="0" strike="noStrike" sz="1100" u="none">
                    <a:solidFill>
                      <a:srgbClr val="13262F"/>
                    </a:solidFill>
                    <a:latin typeface="+mn-lt"/>
                  </a:defRPr>
                </a:pPr>
              </a:p>
            </c:txPr>
            <c:showLegendKey val="0"/>
            <c:showVal val="1"/>
            <c:showCatName val="0"/>
            <c:showSerName val="0"/>
            <c:showPercent val="0"/>
            <c:showBubbleSize val="0"/>
            <c:showLeaderLines val="0"/>
          </c:dLbls>
          <c:cat>
            <c:multiLvlStrRef>
              <c:f>Sheet1!$A$2:$A$7</c:f>
              <c:multiLvlStrCache>
                <c:ptCount val="6"/>
                <c:lvl>
                  <c:pt idx="0">
                    <c:v>Weather</c:v>
                  </c:pt>
                  <c:pt idx="1">
                    <c:v>Christmas timing</c:v>
                  </c:pt>
                  <c:pt idx="2">
                    <c:v>Relative price</c:v>
                  </c:pt>
                  <c:pt idx="3">
                    <c:v>Distribution</c:v>
                  </c:pt>
                  <c:pt idx="4">
                    <c:v>Media</c:v>
                  </c:pt>
                  <c:pt idx="5">
                    <c:v>Unexplained</c:v>
                  </c:pt>
                </c:lvl>
              </c:multiLvlStrCache>
            </c:multiLvlStrRef>
          </c:cat>
          <c:val>
            <c:numRef>
              <c:f>Sheet1!$B$2:$B$7</c:f>
              <c:numCache>
                <c:formatCode>General</c:formatCode>
                <c:ptCount val="6"/>
                <c:pt idx="0">
                  <c:v>-1.9</c:v>
                </c:pt>
                <c:pt idx="1">
                  <c:v>0.4</c:v>
                </c:pt>
                <c:pt idx="2">
                  <c:v>-8.1</c:v>
                </c:pt>
                <c:pt idx="3">
                  <c:v>2.5</c:v>
                </c:pt>
                <c:pt idx="4">
                  <c:v>1.4</c:v>
                </c:pt>
                <c:pt idx="5">
                  <c:v>-0.2</c:v>
                </c:pt>
              </c:numCache>
            </c:numRef>
          </c:val>
        </c:ser>
        <c:ser>
          <c:idx val="1"/>
          <c:order val="1"/>
          <c:tx>
            <c:strRef>
              <c:f>Sheet1!$C$1</c:f>
              <c:strCache>
                <c:ptCount val="1"/>
                <c:pt idx="0">
                  <c:v>2023 → 2024 (volume +7.1%)</c:v>
                </c:pt>
              </c:strCache>
            </c:strRef>
          </c:tx>
          <c:spPr>
            <a:solidFill>
              <a:srgbClr val="1B7F8C"/>
            </a:solidFill>
            <a:effectLst/>
          </c:spPr>
          <c:invertIfNegative val="0"/>
          <c:dLbls>
            <c:numFmt formatCode="+0.0;−0.0;0.0" sourceLinked="0"/>
            <c:txPr>
              <a:bodyPr/>
              <a:lstStyle/>
              <a:p>
                <a:pPr>
                  <a:defRPr b="0" i="0" strike="noStrike" sz="1100" u="none">
                    <a:solidFill>
                      <a:srgbClr val="13262F"/>
                    </a:solidFill>
                    <a:latin typeface="+mn-lt"/>
                  </a:defRPr>
                </a:pPr>
              </a:p>
            </c:txPr>
            <c:showLegendKey val="0"/>
            <c:showVal val="1"/>
            <c:showCatName val="0"/>
            <c:showSerName val="0"/>
            <c:showPercent val="0"/>
            <c:showBubbleSize val="0"/>
            <c:showLeaderLines val="0"/>
          </c:dLbls>
          <c:cat>
            <c:multiLvlStrRef>
              <c:f>Sheet1!$A$2:$A$7</c:f>
              <c:multiLvlStrCache>
                <c:ptCount val="6"/>
                <c:lvl>
                  <c:pt idx="0">
                    <c:v>Weather</c:v>
                  </c:pt>
                  <c:pt idx="1">
                    <c:v>Christmas timing</c:v>
                  </c:pt>
                  <c:pt idx="2">
                    <c:v>Relative price</c:v>
                  </c:pt>
                  <c:pt idx="3">
                    <c:v>Distribution</c:v>
                  </c:pt>
                  <c:pt idx="4">
                    <c:v>Media</c:v>
                  </c:pt>
                  <c:pt idx="5">
                    <c:v>Unexplained</c:v>
                  </c:pt>
                </c:lvl>
              </c:multiLvlStrCache>
            </c:multiLvlStrRef>
          </c:cat>
          <c:val>
            <c:numRef>
              <c:f>Sheet1!$C$2:$C$7</c:f>
              <c:numCache>
                <c:formatCode>General</c:formatCode>
                <c:ptCount val="6"/>
                <c:pt idx="0">
                  <c:v>-1</c:v>
                </c:pt>
                <c:pt idx="1">
                  <c:v>0</c:v>
                </c:pt>
                <c:pt idx="2">
                  <c:v>-3.5</c:v>
                </c:pt>
                <c:pt idx="3">
                  <c:v>12.8</c:v>
                </c:pt>
                <c:pt idx="4">
                  <c:v>-0.3</c:v>
                </c:pt>
                <c:pt idx="5">
                  <c:v>-0.9</c:v>
                </c:pt>
              </c:numCache>
            </c:numRef>
          </c:val>
        </c:ser>
        <c:dLbls>
          <c:numFmt formatCode="+0.0;−0.0;0.0" sourceLinked="0"/>
          <c:txPr>
            <a:bodyPr/>
            <a:lstStyle/>
            <a:p>
              <a:pPr>
                <a:defRPr b="0" i="0" strike="noStrike" sz="1100" u="none">
                  <a:solidFill>
                    <a:srgbClr val="13262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C9D3D5"/>
            </a:solidFill>
            <a:prstDash val="solid"/>
            <a:round/>
          </a:ln>
        </c:spPr>
        <c:txPr>
          <a:bodyPr/>
          <a:lstStyle/>
          <a:p>
            <a:pPr>
              <a:defRPr sz="1100" b="0" i="0" u="none" strike="noStrike">
                <a:solidFill>
                  <a:srgbClr val="5B6B70"/>
                </a:solidFill>
                <a:latin typeface="+mn-lt"/>
              </a:defRPr>
            </a:pPr>
            <a:endParaRPr lang="en-US"/>
          </a:p>
        </c:txPr>
        <c:crossAx val="2094734552"/>
        <c:crosses val="autoZero"/>
        <c:auto val="1"/>
        <c:lblAlgn val="ctr"/>
        <c:noMultiLvlLbl val="1"/>
      </c:catAx>
      <c:valAx>
        <c:axId val="2094734552"/>
        <c:scaling>
          <c:orientation val="minMax"/>
          <c:max val="15"/>
          <c:min val="-10"/>
        </c:scaling>
        <c:delete val="0"/>
        <c:axPos val="b"/>
        <c:majorGridlines>
          <c:spPr>
            <a:ln w="9525" cap="flat">
              <a:solidFill>
                <a:srgbClr val="E1E8E9"/>
              </a:solidFill>
              <a:prstDash val="solid"/>
              <a:round/>
            </a:ln>
          </c:spPr>
        </c:majorGridlines>
        <c:numFmt formatCode="+0;−0;0" sourceLinked="0"/>
        <c:majorTickMark val="out"/>
        <c:minorTickMark val="none"/>
        <c:tickLblPos val="low"/>
        <c:spPr>
          <a:ln w="12700" cap="flat">
            <a:noFill/>
            <a:prstDash val="solid"/>
            <a:round/>
          </a:ln>
        </c:spPr>
        <c:txPr>
          <a:bodyPr/>
          <a:lstStyle/>
          <a:p>
            <a:pPr>
              <a:defRPr sz="1100" b="0" i="0" u="none" strike="noStrike">
                <a:solidFill>
                  <a:srgbClr val="5B6B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B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0B3C49"/>
                </a:solidFill>
                <a:latin typeface="+mn-lt"/>
              </a:defRPr>
            </a:pPr>
            <a:r>
              <a:rPr sz="1300" b="0" i="0" u="none" strike="noStrike">
                <a:solidFill>
                  <a:srgbClr val="0B3C49"/>
                </a:solidFill>
                <a:latin typeface="+mn-lt"/>
              </a:rPr>
              <a:t>Actual vs model, weekly volume (million kg)</a:t>
            </a:r>
          </a:p>
        </c:rich>
      </c:tx>
      <c:layout/>
      <c:overlay val="0"/>
    </c:title>
    <c:autoTitleDeleted val="0"/>
    <c:plotArea>
      <c:layout/>
      <c:lineChart>
        <c:varyColors val="0"/>
        <c:ser>
          <c:idx val="0"/>
          <c:order val="0"/>
          <c:tx>
            <c:strRef>
              <c:f>Sheet1!$B$1</c:f>
              <c:strCache>
                <c:ptCount val="1"/>
                <c:pt idx="0">
                  <c:v>Actual</c:v>
                </c:pt>
              </c:strCache>
            </c:strRef>
          </c:tx>
          <c:spPr>
            <a:solidFill>
              <a:srgbClr val="1B7F8C"/>
            </a:solidFill>
            <a:ln w="22225" cap="flat">
              <a:solidFill>
                <a:srgbClr val="1B7F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B7F8C"/>
              </a:solidFill>
              <a:ln w="9525" cap="flat">
                <a:solidFill>
                  <a:srgbClr val="1B7F8C"/>
                </a:solidFill>
                <a:prstDash val="solid"/>
                <a:round/>
              </a:ln>
              <a:effectLst/>
            </c:spPr>
          </c:marker>
          <c:cat>
            <c:multiLvlStrRef>
              <c:f>Sheet1!$A$2:$A$162</c:f>
              <c:multiLvlStrCache>
                <c:ptCount val="161"/>
                <c:lvl>
                  <c:pt idx="0">
                    <c:v>Jan 22</c:v>
                  </c:pt>
                  <c:pt idx="1">
                    <c:v>Jan 22</c:v>
                  </c:pt>
                  <c:pt idx="2">
                    <c:v>Jan 22</c:v>
                  </c:pt>
                  <c:pt idx="3">
                    <c:v>Jan 22</c:v>
                  </c:pt>
                  <c:pt idx="4">
                    <c:v>Jan 22</c:v>
                  </c:pt>
                  <c:pt idx="5">
                    <c:v>Feb 22</c:v>
                  </c:pt>
                  <c:pt idx="6">
                    <c:v>Feb 22</c:v>
                  </c:pt>
                  <c:pt idx="7">
                    <c:v>Feb 22</c:v>
                  </c:pt>
                  <c:pt idx="8">
                    <c:v>Feb 22</c:v>
                  </c:pt>
                  <c:pt idx="9">
                    <c:v>Mar 22</c:v>
                  </c:pt>
                  <c:pt idx="10">
                    <c:v>Mar 22</c:v>
                  </c:pt>
                  <c:pt idx="11">
                    <c:v>Mar 22</c:v>
                  </c:pt>
                  <c:pt idx="12">
                    <c:v>Mar 22</c:v>
                  </c:pt>
                  <c:pt idx="13">
                    <c:v>Apr 22</c:v>
                  </c:pt>
                  <c:pt idx="14">
                    <c:v>Apr 22</c:v>
                  </c:pt>
                  <c:pt idx="15">
                    <c:v>Apr 22</c:v>
                  </c:pt>
                  <c:pt idx="16">
                    <c:v>Apr 22</c:v>
                  </c:pt>
                  <c:pt idx="17">
                    <c:v>Apr 22</c:v>
                  </c:pt>
                  <c:pt idx="18">
                    <c:v>May 22</c:v>
                  </c:pt>
                  <c:pt idx="19">
                    <c:v>May 22</c:v>
                  </c:pt>
                  <c:pt idx="20">
                    <c:v>May 22</c:v>
                  </c:pt>
                  <c:pt idx="21">
                    <c:v>May 22</c:v>
                  </c:pt>
                  <c:pt idx="22">
                    <c:v>Jun 22</c:v>
                  </c:pt>
                  <c:pt idx="23">
                    <c:v>Jun 22</c:v>
                  </c:pt>
                  <c:pt idx="24">
                    <c:v>Jun 22</c:v>
                  </c:pt>
                  <c:pt idx="25">
                    <c:v>Jun 22</c:v>
                  </c:pt>
                  <c:pt idx="26">
                    <c:v>Jul 22</c:v>
                  </c:pt>
                  <c:pt idx="27">
                    <c:v>Jul 22</c:v>
                  </c:pt>
                  <c:pt idx="28">
                    <c:v>Jul 22</c:v>
                  </c:pt>
                  <c:pt idx="29">
                    <c:v>Jul 22</c:v>
                  </c:pt>
                  <c:pt idx="30">
                    <c:v>Jul 22</c:v>
                  </c:pt>
                  <c:pt idx="31">
                    <c:v>Aug 22</c:v>
                  </c:pt>
                  <c:pt idx="32">
                    <c:v>Aug 22</c:v>
                  </c:pt>
                  <c:pt idx="33">
                    <c:v>Aug 22</c:v>
                  </c:pt>
                  <c:pt idx="34">
                    <c:v>Aug 22</c:v>
                  </c:pt>
                  <c:pt idx="35">
                    <c:v>Sep 22</c:v>
                  </c:pt>
                  <c:pt idx="36">
                    <c:v>Sep 22</c:v>
                  </c:pt>
                  <c:pt idx="37">
                    <c:v>Sep 22</c:v>
                  </c:pt>
                  <c:pt idx="38">
                    <c:v>Sep 22</c:v>
                  </c:pt>
                  <c:pt idx="39">
                    <c:v>Oct 22</c:v>
                  </c:pt>
                  <c:pt idx="40">
                    <c:v>Oct 22</c:v>
                  </c:pt>
                  <c:pt idx="41">
                    <c:v>Oct 22</c:v>
                  </c:pt>
                  <c:pt idx="42">
                    <c:v>Oct 22</c:v>
                  </c:pt>
                  <c:pt idx="43">
                    <c:v>Oct 22</c:v>
                  </c:pt>
                  <c:pt idx="44">
                    <c:v>Nov 22</c:v>
                  </c:pt>
                  <c:pt idx="45">
                    <c:v>Nov 22</c:v>
                  </c:pt>
                  <c:pt idx="46">
                    <c:v>Nov 22</c:v>
                  </c:pt>
                  <c:pt idx="47">
                    <c:v>Nov 22</c:v>
                  </c:pt>
                  <c:pt idx="48">
                    <c:v>Dec 22</c:v>
                  </c:pt>
                  <c:pt idx="49">
                    <c:v>Dec 22</c:v>
                  </c:pt>
                  <c:pt idx="50">
                    <c:v>Dec 22</c:v>
                  </c:pt>
                  <c:pt idx="51">
                    <c:v>Dec 22</c:v>
                  </c:pt>
                  <c:pt idx="52">
                    <c:v>Dec 22</c:v>
                  </c:pt>
                  <c:pt idx="53">
                    <c:v>Jan 23</c:v>
                  </c:pt>
                  <c:pt idx="54">
                    <c:v>Jan 23</c:v>
                  </c:pt>
                  <c:pt idx="55">
                    <c:v>Jan 23</c:v>
                  </c:pt>
                  <c:pt idx="56">
                    <c:v>Jan 23</c:v>
                  </c:pt>
                  <c:pt idx="57">
                    <c:v>Feb 23</c:v>
                  </c:pt>
                  <c:pt idx="58">
                    <c:v>Feb 23</c:v>
                  </c:pt>
                  <c:pt idx="59">
                    <c:v>Feb 23</c:v>
                  </c:pt>
                  <c:pt idx="60">
                    <c:v>Feb 23</c:v>
                  </c:pt>
                  <c:pt idx="61">
                    <c:v>Mar 23</c:v>
                  </c:pt>
                  <c:pt idx="62">
                    <c:v>Mar 23</c:v>
                  </c:pt>
                  <c:pt idx="63">
                    <c:v>Mar 23</c:v>
                  </c:pt>
                  <c:pt idx="64">
                    <c:v>Mar 23</c:v>
                  </c:pt>
                  <c:pt idx="65">
                    <c:v>Apr 23</c:v>
                  </c:pt>
                  <c:pt idx="66">
                    <c:v>Apr 23</c:v>
                  </c:pt>
                  <c:pt idx="67">
                    <c:v>Apr 23</c:v>
                  </c:pt>
                  <c:pt idx="68">
                    <c:v>Apr 23</c:v>
                  </c:pt>
                  <c:pt idx="69">
                    <c:v>Apr 23</c:v>
                  </c:pt>
                  <c:pt idx="70">
                    <c:v>May 23</c:v>
                  </c:pt>
                  <c:pt idx="71">
                    <c:v>May 23</c:v>
                  </c:pt>
                  <c:pt idx="72">
                    <c:v>May 23</c:v>
                  </c:pt>
                  <c:pt idx="73">
                    <c:v>May 23</c:v>
                  </c:pt>
                  <c:pt idx="74">
                    <c:v>Jun 23</c:v>
                  </c:pt>
                  <c:pt idx="75">
                    <c:v>Jun 23</c:v>
                  </c:pt>
                  <c:pt idx="76">
                    <c:v>Jun 23</c:v>
                  </c:pt>
                  <c:pt idx="77">
                    <c:v>Jun 23</c:v>
                  </c:pt>
                  <c:pt idx="78">
                    <c:v>Jul 23</c:v>
                  </c:pt>
                  <c:pt idx="79">
                    <c:v>Jul 23</c:v>
                  </c:pt>
                  <c:pt idx="80">
                    <c:v>Jul 23</c:v>
                  </c:pt>
                  <c:pt idx="81">
                    <c:v>Jul 23</c:v>
                  </c:pt>
                  <c:pt idx="82">
                    <c:v>Jul 23</c:v>
                  </c:pt>
                  <c:pt idx="83">
                    <c:v>Aug 23</c:v>
                  </c:pt>
                  <c:pt idx="84">
                    <c:v>Aug 23</c:v>
                  </c:pt>
                  <c:pt idx="85">
                    <c:v>Aug 23</c:v>
                  </c:pt>
                  <c:pt idx="86">
                    <c:v>Aug 23</c:v>
                  </c:pt>
                  <c:pt idx="87">
                    <c:v>Sep 23</c:v>
                  </c:pt>
                  <c:pt idx="88">
                    <c:v>Sep 23</c:v>
                  </c:pt>
                  <c:pt idx="89">
                    <c:v>Sep 23</c:v>
                  </c:pt>
                  <c:pt idx="90">
                    <c:v>Sep 23</c:v>
                  </c:pt>
                  <c:pt idx="91">
                    <c:v>Sep 23</c:v>
                  </c:pt>
                  <c:pt idx="92">
                    <c:v>Oct 23</c:v>
                  </c:pt>
                  <c:pt idx="93">
                    <c:v>Oct 23</c:v>
                  </c:pt>
                  <c:pt idx="94">
                    <c:v>Oct 23</c:v>
                  </c:pt>
                  <c:pt idx="95">
                    <c:v>Oct 23</c:v>
                  </c:pt>
                  <c:pt idx="96">
                    <c:v>Nov 23</c:v>
                  </c:pt>
                  <c:pt idx="97">
                    <c:v>Nov 23</c:v>
                  </c:pt>
                  <c:pt idx="98">
                    <c:v>Nov 23</c:v>
                  </c:pt>
                  <c:pt idx="99">
                    <c:v>Nov 23</c:v>
                  </c:pt>
                  <c:pt idx="100">
                    <c:v>Dec 23</c:v>
                  </c:pt>
                  <c:pt idx="101">
                    <c:v>Dec 23</c:v>
                  </c:pt>
                  <c:pt idx="102">
                    <c:v>Dec 23</c:v>
                  </c:pt>
                  <c:pt idx="103">
                    <c:v>Dec 23</c:v>
                  </c:pt>
                  <c:pt idx="104">
                    <c:v>Dec 23</c:v>
                  </c:pt>
                  <c:pt idx="105">
                    <c:v>Jan 24</c:v>
                  </c:pt>
                  <c:pt idx="106">
                    <c:v>Jan 24</c:v>
                  </c:pt>
                  <c:pt idx="107">
                    <c:v>Jan 24</c:v>
                  </c:pt>
                  <c:pt idx="108">
                    <c:v>Jan 24</c:v>
                  </c:pt>
                  <c:pt idx="109">
                    <c:v>Feb 24</c:v>
                  </c:pt>
                  <c:pt idx="110">
                    <c:v>Feb 24</c:v>
                  </c:pt>
                  <c:pt idx="111">
                    <c:v>Feb 24</c:v>
                  </c:pt>
                  <c:pt idx="112">
                    <c:v>Feb 24</c:v>
                  </c:pt>
                  <c:pt idx="113">
                    <c:v>Mar 24</c:v>
                  </c:pt>
                  <c:pt idx="114">
                    <c:v>Mar 24</c:v>
                  </c:pt>
                  <c:pt idx="115">
                    <c:v>Mar 24</c:v>
                  </c:pt>
                  <c:pt idx="116">
                    <c:v>Mar 24</c:v>
                  </c:pt>
                  <c:pt idx="117">
                    <c:v>Mar 24</c:v>
                  </c:pt>
                  <c:pt idx="118">
                    <c:v>Apr 24</c:v>
                  </c:pt>
                  <c:pt idx="119">
                    <c:v>Apr 24</c:v>
                  </c:pt>
                  <c:pt idx="120">
                    <c:v>Apr 24</c:v>
                  </c:pt>
                  <c:pt idx="121">
                    <c:v>Apr 24</c:v>
                  </c:pt>
                  <c:pt idx="122">
                    <c:v>May 24</c:v>
                  </c:pt>
                  <c:pt idx="123">
                    <c:v>May 24</c:v>
                  </c:pt>
                  <c:pt idx="124">
                    <c:v>May 24</c:v>
                  </c:pt>
                  <c:pt idx="125">
                    <c:v>May 24</c:v>
                  </c:pt>
                  <c:pt idx="126">
                    <c:v>Jun 24</c:v>
                  </c:pt>
                  <c:pt idx="127">
                    <c:v>Jun 24</c:v>
                  </c:pt>
                  <c:pt idx="128">
                    <c:v>Jun 24</c:v>
                  </c:pt>
                  <c:pt idx="129">
                    <c:v>Jun 24</c:v>
                  </c:pt>
                  <c:pt idx="130">
                    <c:v>Jun 24</c:v>
                  </c:pt>
                  <c:pt idx="131">
                    <c:v>Jul 24</c:v>
                  </c:pt>
                  <c:pt idx="132">
                    <c:v>Jul 24</c:v>
                  </c:pt>
                  <c:pt idx="133">
                    <c:v>Jul 24</c:v>
                  </c:pt>
                  <c:pt idx="134">
                    <c:v>Jul 24</c:v>
                  </c:pt>
                  <c:pt idx="135">
                    <c:v>Aug 24</c:v>
                  </c:pt>
                  <c:pt idx="136">
                    <c:v>Aug 24</c:v>
                  </c:pt>
                  <c:pt idx="137">
                    <c:v>Aug 24</c:v>
                  </c:pt>
                  <c:pt idx="138">
                    <c:v>Aug 24</c:v>
                  </c:pt>
                  <c:pt idx="139">
                    <c:v>Aug 24</c:v>
                  </c:pt>
                  <c:pt idx="140">
                    <c:v>Sep 24</c:v>
                  </c:pt>
                  <c:pt idx="141">
                    <c:v>Sep 24</c:v>
                  </c:pt>
                  <c:pt idx="142">
                    <c:v>Sep 24</c:v>
                  </c:pt>
                  <c:pt idx="143">
                    <c:v>Sep 24</c:v>
                  </c:pt>
                  <c:pt idx="144">
                    <c:v>Oct 24</c:v>
                  </c:pt>
                  <c:pt idx="145">
                    <c:v>Oct 24</c:v>
                  </c:pt>
                  <c:pt idx="146">
                    <c:v>Oct 24</c:v>
                  </c:pt>
                  <c:pt idx="147">
                    <c:v>Oct 24</c:v>
                  </c:pt>
                  <c:pt idx="148">
                    <c:v>Nov 24</c:v>
                  </c:pt>
                  <c:pt idx="149">
                    <c:v>Nov 24</c:v>
                  </c:pt>
                  <c:pt idx="150">
                    <c:v>Nov 24</c:v>
                  </c:pt>
                  <c:pt idx="151">
                    <c:v>Nov 24</c:v>
                  </c:pt>
                  <c:pt idx="152">
                    <c:v>Nov 24</c:v>
                  </c:pt>
                  <c:pt idx="153">
                    <c:v>Dec 24</c:v>
                  </c:pt>
                  <c:pt idx="154">
                    <c:v>Dec 24</c:v>
                  </c:pt>
                  <c:pt idx="155">
                    <c:v>Dec 24</c:v>
                  </c:pt>
                  <c:pt idx="156">
                    <c:v>Dec 24</c:v>
                  </c:pt>
                  <c:pt idx="157">
                    <c:v>Jan 25</c:v>
                  </c:pt>
                  <c:pt idx="158">
                    <c:v>Jan 25</c:v>
                  </c:pt>
                  <c:pt idx="159">
                    <c:v>Jan 25</c:v>
                  </c:pt>
                  <c:pt idx="160">
                    <c:v>Jan 25</c:v>
                  </c:pt>
                </c:lvl>
              </c:multiLvlStrCache>
            </c:multiLvlStrRef>
          </c:cat>
          <c:val>
            <c:numRef>
              <c:f>Sheet1!$B$2:$B$162</c:f>
              <c:numCache>
                <c:formatCode>General</c:formatCode>
                <c:ptCount val="161"/>
                <c:pt idx="0">
                  <c:v>2.041</c:v>
                </c:pt>
                <c:pt idx="1">
                  <c:v>2.948</c:v>
                </c:pt>
                <c:pt idx="2">
                  <c:v>2.865</c:v>
                </c:pt>
                <c:pt idx="3">
                  <c:v>2.895</c:v>
                </c:pt>
                <c:pt idx="4">
                  <c:v>2.802</c:v>
                </c:pt>
                <c:pt idx="5">
                  <c:v>2.844</c:v>
                </c:pt>
                <c:pt idx="6">
                  <c:v>2.807</c:v>
                </c:pt>
                <c:pt idx="7">
                  <c:v>2.768</c:v>
                </c:pt>
                <c:pt idx="8">
                  <c:v>3</c:v>
                </c:pt>
                <c:pt idx="9">
                  <c:v>3.205</c:v>
                </c:pt>
                <c:pt idx="10">
                  <c:v>3.318</c:v>
                </c:pt>
                <c:pt idx="11">
                  <c:v>3.456</c:v>
                </c:pt>
                <c:pt idx="12">
                  <c:v>3.76</c:v>
                </c:pt>
                <c:pt idx="13">
                  <c:v>3.544</c:v>
                </c:pt>
                <c:pt idx="14">
                  <c:v>3.62</c:v>
                </c:pt>
                <c:pt idx="15">
                  <c:v>3.841</c:v>
                </c:pt>
                <c:pt idx="16">
                  <c:v>3.423</c:v>
                </c:pt>
                <c:pt idx="17">
                  <c:v>3.451</c:v>
                </c:pt>
                <c:pt idx="18">
                  <c:v>3.397</c:v>
                </c:pt>
                <c:pt idx="19">
                  <c:v>3.552</c:v>
                </c:pt>
                <c:pt idx="20">
                  <c:v>3.552</c:v>
                </c:pt>
                <c:pt idx="21">
                  <c:v>2.961</c:v>
                </c:pt>
                <c:pt idx="22">
                  <c:v>3.232</c:v>
                </c:pt>
                <c:pt idx="23">
                  <c:v>3.279</c:v>
                </c:pt>
                <c:pt idx="24">
                  <c:v>4.007</c:v>
                </c:pt>
                <c:pt idx="25">
                  <c:v>3.735</c:v>
                </c:pt>
                <c:pt idx="26">
                  <c:v>3.338</c:v>
                </c:pt>
                <c:pt idx="27">
                  <c:v>3.855</c:v>
                </c:pt>
                <c:pt idx="28">
                  <c:v>4.945</c:v>
                </c:pt>
                <c:pt idx="29">
                  <c:v>4.92</c:v>
                </c:pt>
                <c:pt idx="30">
                  <c:v>3.734</c:v>
                </c:pt>
                <c:pt idx="31">
                  <c:v>4.007</c:v>
                </c:pt>
                <c:pt idx="32">
                  <c:v>5.42</c:v>
                </c:pt>
                <c:pt idx="33">
                  <c:v>3.705</c:v>
                </c:pt>
                <c:pt idx="34">
                  <c:v>3.798</c:v>
                </c:pt>
                <c:pt idx="35">
                  <c:v>2.718</c:v>
                </c:pt>
                <c:pt idx="36">
                  <c:v>2.726</c:v>
                </c:pt>
                <c:pt idx="37">
                  <c:v>2.846</c:v>
                </c:pt>
                <c:pt idx="38">
                  <c:v>2.525</c:v>
                </c:pt>
                <c:pt idx="39">
                  <c:v>2.415</c:v>
                </c:pt>
                <c:pt idx="40">
                  <c:v>2.39</c:v>
                </c:pt>
                <c:pt idx="41">
                  <c:v>2.263</c:v>
                </c:pt>
                <c:pt idx="42">
                  <c:v>2.372</c:v>
                </c:pt>
                <c:pt idx="43">
                  <c:v>2.524</c:v>
                </c:pt>
                <c:pt idx="44">
                  <c:v>2.536</c:v>
                </c:pt>
                <c:pt idx="45">
                  <c:v>2.566</c:v>
                </c:pt>
                <c:pt idx="46">
                  <c:v>2.556</c:v>
                </c:pt>
                <c:pt idx="47">
                  <c:v>2.475</c:v>
                </c:pt>
                <c:pt idx="48">
                  <c:v>2.542</c:v>
                </c:pt>
                <c:pt idx="49">
                  <c:v>2.489</c:v>
                </c:pt>
                <c:pt idx="50">
                  <c:v>2.594</c:v>
                </c:pt>
                <c:pt idx="51">
                  <c:v>2.733</c:v>
                </c:pt>
                <c:pt idx="52">
                  <c:v>2.041</c:v>
                </c:pt>
                <c:pt idx="53">
                  <c:v>2.55</c:v>
                </c:pt>
                <c:pt idx="54">
                  <c:v>2.646</c:v>
                </c:pt>
                <c:pt idx="55">
                  <c:v>2.579</c:v>
                </c:pt>
                <c:pt idx="56">
                  <c:v>2.641</c:v>
                </c:pt>
                <c:pt idx="57">
                  <c:v>2.722</c:v>
                </c:pt>
                <c:pt idx="58">
                  <c:v>2.558</c:v>
                </c:pt>
                <c:pt idx="59">
                  <c:v>2.475</c:v>
                </c:pt>
                <c:pt idx="60">
                  <c:v>2.471</c:v>
                </c:pt>
                <c:pt idx="61">
                  <c:v>2.468</c:v>
                </c:pt>
                <c:pt idx="62">
                  <c:v>2.402</c:v>
                </c:pt>
                <c:pt idx="63">
                  <c:v>2.523</c:v>
                </c:pt>
                <c:pt idx="64">
                  <c:v>2.528</c:v>
                </c:pt>
                <c:pt idx="65">
                  <c:v>2.472</c:v>
                </c:pt>
                <c:pt idx="66">
                  <c:v>2.732</c:v>
                </c:pt>
                <c:pt idx="67">
                  <c:v>2.709</c:v>
                </c:pt>
                <c:pt idx="68">
                  <c:v>3.127</c:v>
                </c:pt>
                <c:pt idx="69">
                  <c:v>3.153</c:v>
                </c:pt>
                <c:pt idx="70">
                  <c:v>3.013</c:v>
                </c:pt>
                <c:pt idx="71">
                  <c:v>2.821</c:v>
                </c:pt>
                <c:pt idx="72">
                  <c:v>3.044</c:v>
                </c:pt>
                <c:pt idx="73">
                  <c:v>3.552</c:v>
                </c:pt>
                <c:pt idx="74">
                  <c:v>3.489</c:v>
                </c:pt>
                <c:pt idx="75">
                  <c:v>3.803</c:v>
                </c:pt>
                <c:pt idx="76">
                  <c:v>4.784</c:v>
                </c:pt>
                <c:pt idx="77">
                  <c:v>4.202</c:v>
                </c:pt>
                <c:pt idx="78">
                  <c:v>3.815</c:v>
                </c:pt>
                <c:pt idx="79">
                  <c:v>3.337</c:v>
                </c:pt>
                <c:pt idx="80">
                  <c:v>3.077</c:v>
                </c:pt>
                <c:pt idx="81">
                  <c:v>3.11</c:v>
                </c:pt>
                <c:pt idx="82">
                  <c:v>3.157</c:v>
                </c:pt>
                <c:pt idx="83">
                  <c:v>3.086</c:v>
                </c:pt>
                <c:pt idx="84">
                  <c:v>3.418</c:v>
                </c:pt>
                <c:pt idx="85">
                  <c:v>3.379</c:v>
                </c:pt>
                <c:pt idx="86">
                  <c:v>3.565</c:v>
                </c:pt>
                <c:pt idx="87">
                  <c:v>3.13</c:v>
                </c:pt>
                <c:pt idx="88">
                  <c:v>4.518</c:v>
                </c:pt>
                <c:pt idx="89">
                  <c:v>3.506</c:v>
                </c:pt>
                <c:pt idx="90">
                  <c:v>2.779</c:v>
                </c:pt>
                <c:pt idx="91">
                  <c:v>2.885</c:v>
                </c:pt>
                <c:pt idx="92">
                  <c:v>3.009</c:v>
                </c:pt>
                <c:pt idx="93">
                  <c:v>3.043</c:v>
                </c:pt>
                <c:pt idx="94">
                  <c:v>2.761</c:v>
                </c:pt>
                <c:pt idx="95">
                  <c:v>2.617</c:v>
                </c:pt>
                <c:pt idx="96">
                  <c:v>2.479</c:v>
                </c:pt>
                <c:pt idx="97">
                  <c:v>2.47</c:v>
                </c:pt>
                <c:pt idx="98">
                  <c:v>2.475</c:v>
                </c:pt>
                <c:pt idx="99">
                  <c:v>2.586</c:v>
                </c:pt>
                <c:pt idx="100">
                  <c:v>2.529</c:v>
                </c:pt>
                <c:pt idx="101">
                  <c:v>2.503</c:v>
                </c:pt>
                <c:pt idx="102">
                  <c:v>2.432</c:v>
                </c:pt>
                <c:pt idx="103">
                  <c:v>2.527</c:v>
                </c:pt>
                <c:pt idx="104">
                  <c:v>1.952</c:v>
                </c:pt>
                <c:pt idx="105">
                  <c:v>2.384</c:v>
                </c:pt>
                <c:pt idx="106">
                  <c:v>2.493</c:v>
                </c:pt>
                <c:pt idx="107">
                  <c:v>2.394</c:v>
                </c:pt>
                <c:pt idx="108">
                  <c:v>2.5</c:v>
                </c:pt>
                <c:pt idx="109">
                  <c:v>2.412</c:v>
                </c:pt>
                <c:pt idx="110">
                  <c:v>2.333</c:v>
                </c:pt>
                <c:pt idx="111">
                  <c:v>2.406</c:v>
                </c:pt>
                <c:pt idx="112">
                  <c:v>2.37</c:v>
                </c:pt>
                <c:pt idx="113">
                  <c:v>2.495</c:v>
                </c:pt>
                <c:pt idx="114">
                  <c:v>2.608</c:v>
                </c:pt>
                <c:pt idx="115">
                  <c:v>2.609</c:v>
                </c:pt>
                <c:pt idx="116">
                  <c:v>2.672</c:v>
                </c:pt>
                <c:pt idx="117">
                  <c:v>2.57</c:v>
                </c:pt>
                <c:pt idx="118">
                  <c:v>2.42</c:v>
                </c:pt>
                <c:pt idx="119">
                  <c:v>2.598</c:v>
                </c:pt>
                <c:pt idx="120">
                  <c:v>2.642</c:v>
                </c:pt>
                <c:pt idx="121">
                  <c:v>2.75</c:v>
                </c:pt>
                <c:pt idx="122">
                  <c:v>3.146</c:v>
                </c:pt>
                <c:pt idx="123">
                  <c:v>3.613</c:v>
                </c:pt>
                <c:pt idx="124">
                  <c:v>3.781</c:v>
                </c:pt>
                <c:pt idx="125">
                  <c:v>3.821</c:v>
                </c:pt>
                <c:pt idx="126">
                  <c:v>3.511</c:v>
                </c:pt>
                <c:pt idx="127">
                  <c:v>3.813</c:v>
                </c:pt>
                <c:pt idx="128">
                  <c:v>3.593</c:v>
                </c:pt>
                <c:pt idx="129">
                  <c:v>3.942</c:v>
                </c:pt>
                <c:pt idx="130">
                  <c:v>4.824</c:v>
                </c:pt>
                <c:pt idx="131">
                  <c:v>3.68</c:v>
                </c:pt>
                <c:pt idx="132">
                  <c:v>3.661</c:v>
                </c:pt>
                <c:pt idx="133">
                  <c:v>4.496</c:v>
                </c:pt>
                <c:pt idx="134">
                  <c:v>4.464</c:v>
                </c:pt>
                <c:pt idx="135">
                  <c:v>5.4</c:v>
                </c:pt>
                <c:pt idx="136">
                  <c:v>4.337</c:v>
                </c:pt>
                <c:pt idx="137">
                  <c:v>4.577</c:v>
                </c:pt>
                <c:pt idx="138">
                  <c:v>3.753</c:v>
                </c:pt>
                <c:pt idx="139">
                  <c:v>3.765</c:v>
                </c:pt>
                <c:pt idx="140">
                  <c:v>3.56</c:v>
                </c:pt>
                <c:pt idx="141">
                  <c:v>3.258</c:v>
                </c:pt>
                <c:pt idx="142">
                  <c:v>3.515</c:v>
                </c:pt>
                <c:pt idx="143">
                  <c:v>3.262</c:v>
                </c:pt>
                <c:pt idx="144">
                  <c:v>3.107</c:v>
                </c:pt>
                <c:pt idx="145">
                  <c:v>3.159</c:v>
                </c:pt>
                <c:pt idx="146">
                  <c:v>3.232</c:v>
                </c:pt>
                <c:pt idx="147">
                  <c:v>3.169</c:v>
                </c:pt>
                <c:pt idx="148">
                  <c:v>3.171</c:v>
                </c:pt>
                <c:pt idx="149">
                  <c:v>2.909</c:v>
                </c:pt>
                <c:pt idx="150">
                  <c:v>2.78</c:v>
                </c:pt>
                <c:pt idx="151">
                  <c:v>2.717</c:v>
                </c:pt>
                <c:pt idx="152">
                  <c:v>2.936</c:v>
                </c:pt>
                <c:pt idx="153">
                  <c:v>2.851</c:v>
                </c:pt>
                <c:pt idx="154">
                  <c:v>2.772</c:v>
                </c:pt>
                <c:pt idx="155">
                  <c:v>2.817</c:v>
                </c:pt>
                <c:pt idx="156">
                  <c:v>2.214</c:v>
                </c:pt>
                <c:pt idx="157">
                  <c:v>2.712</c:v>
                </c:pt>
                <c:pt idx="158">
                  <c:v>2.917</c:v>
                </c:pt>
                <c:pt idx="159">
                  <c:v>2.993</c:v>
                </c:pt>
                <c:pt idx="160">
                  <c:v>2.97</c:v>
                </c:pt>
              </c:numCache>
            </c:numRef>
          </c:val>
          <c:smooth val="0"/>
        </c:ser>
        <c:ser>
          <c:idx val="1"/>
          <c:order val="1"/>
          <c:tx>
            <c:strRef>
              <c:f>Sheet1!$C$1</c:f>
              <c:strCache>
                <c:ptCount val="1"/>
                <c:pt idx="0">
                  <c:v>Model</c:v>
                </c:pt>
              </c:strCache>
            </c:strRef>
          </c:tx>
          <c:spPr>
            <a:solidFill>
              <a:srgbClr val="F2A541"/>
            </a:solidFill>
            <a:ln w="22225" cap="flat">
              <a:solidFill>
                <a:srgbClr val="F2A5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A541"/>
              </a:solidFill>
              <a:ln w="9525" cap="flat">
                <a:solidFill>
                  <a:srgbClr val="F2A541"/>
                </a:solidFill>
                <a:prstDash val="solid"/>
                <a:round/>
              </a:ln>
              <a:effectLst/>
            </c:spPr>
          </c:marker>
          <c:cat>
            <c:multiLvlStrRef>
              <c:f>Sheet1!$A$2:$A$162</c:f>
              <c:multiLvlStrCache>
                <c:ptCount val="161"/>
                <c:lvl>
                  <c:pt idx="0">
                    <c:v>Jan 22</c:v>
                  </c:pt>
                  <c:pt idx="1">
                    <c:v>Jan 22</c:v>
                  </c:pt>
                  <c:pt idx="2">
                    <c:v>Jan 22</c:v>
                  </c:pt>
                  <c:pt idx="3">
                    <c:v>Jan 22</c:v>
                  </c:pt>
                  <c:pt idx="4">
                    <c:v>Jan 22</c:v>
                  </c:pt>
                  <c:pt idx="5">
                    <c:v>Feb 22</c:v>
                  </c:pt>
                  <c:pt idx="6">
                    <c:v>Feb 22</c:v>
                  </c:pt>
                  <c:pt idx="7">
                    <c:v>Feb 22</c:v>
                  </c:pt>
                  <c:pt idx="8">
                    <c:v>Feb 22</c:v>
                  </c:pt>
                  <c:pt idx="9">
                    <c:v>Mar 22</c:v>
                  </c:pt>
                  <c:pt idx="10">
                    <c:v>Mar 22</c:v>
                  </c:pt>
                  <c:pt idx="11">
                    <c:v>Mar 22</c:v>
                  </c:pt>
                  <c:pt idx="12">
                    <c:v>Mar 22</c:v>
                  </c:pt>
                  <c:pt idx="13">
                    <c:v>Apr 22</c:v>
                  </c:pt>
                  <c:pt idx="14">
                    <c:v>Apr 22</c:v>
                  </c:pt>
                  <c:pt idx="15">
                    <c:v>Apr 22</c:v>
                  </c:pt>
                  <c:pt idx="16">
                    <c:v>Apr 22</c:v>
                  </c:pt>
                  <c:pt idx="17">
                    <c:v>Apr 22</c:v>
                  </c:pt>
                  <c:pt idx="18">
                    <c:v>May 22</c:v>
                  </c:pt>
                  <c:pt idx="19">
                    <c:v>May 22</c:v>
                  </c:pt>
                  <c:pt idx="20">
                    <c:v>May 22</c:v>
                  </c:pt>
                  <c:pt idx="21">
                    <c:v>May 22</c:v>
                  </c:pt>
                  <c:pt idx="22">
                    <c:v>Jun 22</c:v>
                  </c:pt>
                  <c:pt idx="23">
                    <c:v>Jun 22</c:v>
                  </c:pt>
                  <c:pt idx="24">
                    <c:v>Jun 22</c:v>
                  </c:pt>
                  <c:pt idx="25">
                    <c:v>Jun 22</c:v>
                  </c:pt>
                  <c:pt idx="26">
                    <c:v>Jul 22</c:v>
                  </c:pt>
                  <c:pt idx="27">
                    <c:v>Jul 22</c:v>
                  </c:pt>
                  <c:pt idx="28">
                    <c:v>Jul 22</c:v>
                  </c:pt>
                  <c:pt idx="29">
                    <c:v>Jul 22</c:v>
                  </c:pt>
                  <c:pt idx="30">
                    <c:v>Jul 22</c:v>
                  </c:pt>
                  <c:pt idx="31">
                    <c:v>Aug 22</c:v>
                  </c:pt>
                  <c:pt idx="32">
                    <c:v>Aug 22</c:v>
                  </c:pt>
                  <c:pt idx="33">
                    <c:v>Aug 22</c:v>
                  </c:pt>
                  <c:pt idx="34">
                    <c:v>Aug 22</c:v>
                  </c:pt>
                  <c:pt idx="35">
                    <c:v>Sep 22</c:v>
                  </c:pt>
                  <c:pt idx="36">
                    <c:v>Sep 22</c:v>
                  </c:pt>
                  <c:pt idx="37">
                    <c:v>Sep 22</c:v>
                  </c:pt>
                  <c:pt idx="38">
                    <c:v>Sep 22</c:v>
                  </c:pt>
                  <c:pt idx="39">
                    <c:v>Oct 22</c:v>
                  </c:pt>
                  <c:pt idx="40">
                    <c:v>Oct 22</c:v>
                  </c:pt>
                  <c:pt idx="41">
                    <c:v>Oct 22</c:v>
                  </c:pt>
                  <c:pt idx="42">
                    <c:v>Oct 22</c:v>
                  </c:pt>
                  <c:pt idx="43">
                    <c:v>Oct 22</c:v>
                  </c:pt>
                  <c:pt idx="44">
                    <c:v>Nov 22</c:v>
                  </c:pt>
                  <c:pt idx="45">
                    <c:v>Nov 22</c:v>
                  </c:pt>
                  <c:pt idx="46">
                    <c:v>Nov 22</c:v>
                  </c:pt>
                  <c:pt idx="47">
                    <c:v>Nov 22</c:v>
                  </c:pt>
                  <c:pt idx="48">
                    <c:v>Dec 22</c:v>
                  </c:pt>
                  <c:pt idx="49">
                    <c:v>Dec 22</c:v>
                  </c:pt>
                  <c:pt idx="50">
                    <c:v>Dec 22</c:v>
                  </c:pt>
                  <c:pt idx="51">
                    <c:v>Dec 22</c:v>
                  </c:pt>
                  <c:pt idx="52">
                    <c:v>Dec 22</c:v>
                  </c:pt>
                  <c:pt idx="53">
                    <c:v>Jan 23</c:v>
                  </c:pt>
                  <c:pt idx="54">
                    <c:v>Jan 23</c:v>
                  </c:pt>
                  <c:pt idx="55">
                    <c:v>Jan 23</c:v>
                  </c:pt>
                  <c:pt idx="56">
                    <c:v>Jan 23</c:v>
                  </c:pt>
                  <c:pt idx="57">
                    <c:v>Feb 23</c:v>
                  </c:pt>
                  <c:pt idx="58">
                    <c:v>Feb 23</c:v>
                  </c:pt>
                  <c:pt idx="59">
                    <c:v>Feb 23</c:v>
                  </c:pt>
                  <c:pt idx="60">
                    <c:v>Feb 23</c:v>
                  </c:pt>
                  <c:pt idx="61">
                    <c:v>Mar 23</c:v>
                  </c:pt>
                  <c:pt idx="62">
                    <c:v>Mar 23</c:v>
                  </c:pt>
                  <c:pt idx="63">
                    <c:v>Mar 23</c:v>
                  </c:pt>
                  <c:pt idx="64">
                    <c:v>Mar 23</c:v>
                  </c:pt>
                  <c:pt idx="65">
                    <c:v>Apr 23</c:v>
                  </c:pt>
                  <c:pt idx="66">
                    <c:v>Apr 23</c:v>
                  </c:pt>
                  <c:pt idx="67">
                    <c:v>Apr 23</c:v>
                  </c:pt>
                  <c:pt idx="68">
                    <c:v>Apr 23</c:v>
                  </c:pt>
                  <c:pt idx="69">
                    <c:v>Apr 23</c:v>
                  </c:pt>
                  <c:pt idx="70">
                    <c:v>May 23</c:v>
                  </c:pt>
                  <c:pt idx="71">
                    <c:v>May 23</c:v>
                  </c:pt>
                  <c:pt idx="72">
                    <c:v>May 23</c:v>
                  </c:pt>
                  <c:pt idx="73">
                    <c:v>May 23</c:v>
                  </c:pt>
                  <c:pt idx="74">
                    <c:v>Jun 23</c:v>
                  </c:pt>
                  <c:pt idx="75">
                    <c:v>Jun 23</c:v>
                  </c:pt>
                  <c:pt idx="76">
                    <c:v>Jun 23</c:v>
                  </c:pt>
                  <c:pt idx="77">
                    <c:v>Jun 23</c:v>
                  </c:pt>
                  <c:pt idx="78">
                    <c:v>Jul 23</c:v>
                  </c:pt>
                  <c:pt idx="79">
                    <c:v>Jul 23</c:v>
                  </c:pt>
                  <c:pt idx="80">
                    <c:v>Jul 23</c:v>
                  </c:pt>
                  <c:pt idx="81">
                    <c:v>Jul 23</c:v>
                  </c:pt>
                  <c:pt idx="82">
                    <c:v>Jul 23</c:v>
                  </c:pt>
                  <c:pt idx="83">
                    <c:v>Aug 23</c:v>
                  </c:pt>
                  <c:pt idx="84">
                    <c:v>Aug 23</c:v>
                  </c:pt>
                  <c:pt idx="85">
                    <c:v>Aug 23</c:v>
                  </c:pt>
                  <c:pt idx="86">
                    <c:v>Aug 23</c:v>
                  </c:pt>
                  <c:pt idx="87">
                    <c:v>Sep 23</c:v>
                  </c:pt>
                  <c:pt idx="88">
                    <c:v>Sep 23</c:v>
                  </c:pt>
                  <c:pt idx="89">
                    <c:v>Sep 23</c:v>
                  </c:pt>
                  <c:pt idx="90">
                    <c:v>Sep 23</c:v>
                  </c:pt>
                  <c:pt idx="91">
                    <c:v>Sep 23</c:v>
                  </c:pt>
                  <c:pt idx="92">
                    <c:v>Oct 23</c:v>
                  </c:pt>
                  <c:pt idx="93">
                    <c:v>Oct 23</c:v>
                  </c:pt>
                  <c:pt idx="94">
                    <c:v>Oct 23</c:v>
                  </c:pt>
                  <c:pt idx="95">
                    <c:v>Oct 23</c:v>
                  </c:pt>
                  <c:pt idx="96">
                    <c:v>Nov 23</c:v>
                  </c:pt>
                  <c:pt idx="97">
                    <c:v>Nov 23</c:v>
                  </c:pt>
                  <c:pt idx="98">
                    <c:v>Nov 23</c:v>
                  </c:pt>
                  <c:pt idx="99">
                    <c:v>Nov 23</c:v>
                  </c:pt>
                  <c:pt idx="100">
                    <c:v>Dec 23</c:v>
                  </c:pt>
                  <c:pt idx="101">
                    <c:v>Dec 23</c:v>
                  </c:pt>
                  <c:pt idx="102">
                    <c:v>Dec 23</c:v>
                  </c:pt>
                  <c:pt idx="103">
                    <c:v>Dec 23</c:v>
                  </c:pt>
                  <c:pt idx="104">
                    <c:v>Dec 23</c:v>
                  </c:pt>
                  <c:pt idx="105">
                    <c:v>Jan 24</c:v>
                  </c:pt>
                  <c:pt idx="106">
                    <c:v>Jan 24</c:v>
                  </c:pt>
                  <c:pt idx="107">
                    <c:v>Jan 24</c:v>
                  </c:pt>
                  <c:pt idx="108">
                    <c:v>Jan 24</c:v>
                  </c:pt>
                  <c:pt idx="109">
                    <c:v>Feb 24</c:v>
                  </c:pt>
                  <c:pt idx="110">
                    <c:v>Feb 24</c:v>
                  </c:pt>
                  <c:pt idx="111">
                    <c:v>Feb 24</c:v>
                  </c:pt>
                  <c:pt idx="112">
                    <c:v>Feb 24</c:v>
                  </c:pt>
                  <c:pt idx="113">
                    <c:v>Mar 24</c:v>
                  </c:pt>
                  <c:pt idx="114">
                    <c:v>Mar 24</c:v>
                  </c:pt>
                  <c:pt idx="115">
                    <c:v>Mar 24</c:v>
                  </c:pt>
                  <c:pt idx="116">
                    <c:v>Mar 24</c:v>
                  </c:pt>
                  <c:pt idx="117">
                    <c:v>Mar 24</c:v>
                  </c:pt>
                  <c:pt idx="118">
                    <c:v>Apr 24</c:v>
                  </c:pt>
                  <c:pt idx="119">
                    <c:v>Apr 24</c:v>
                  </c:pt>
                  <c:pt idx="120">
                    <c:v>Apr 24</c:v>
                  </c:pt>
                  <c:pt idx="121">
                    <c:v>Apr 24</c:v>
                  </c:pt>
                  <c:pt idx="122">
                    <c:v>May 24</c:v>
                  </c:pt>
                  <c:pt idx="123">
                    <c:v>May 24</c:v>
                  </c:pt>
                  <c:pt idx="124">
                    <c:v>May 24</c:v>
                  </c:pt>
                  <c:pt idx="125">
                    <c:v>May 24</c:v>
                  </c:pt>
                  <c:pt idx="126">
                    <c:v>Jun 24</c:v>
                  </c:pt>
                  <c:pt idx="127">
                    <c:v>Jun 24</c:v>
                  </c:pt>
                  <c:pt idx="128">
                    <c:v>Jun 24</c:v>
                  </c:pt>
                  <c:pt idx="129">
                    <c:v>Jun 24</c:v>
                  </c:pt>
                  <c:pt idx="130">
                    <c:v>Jun 24</c:v>
                  </c:pt>
                  <c:pt idx="131">
                    <c:v>Jul 24</c:v>
                  </c:pt>
                  <c:pt idx="132">
                    <c:v>Jul 24</c:v>
                  </c:pt>
                  <c:pt idx="133">
                    <c:v>Jul 24</c:v>
                  </c:pt>
                  <c:pt idx="134">
                    <c:v>Jul 24</c:v>
                  </c:pt>
                  <c:pt idx="135">
                    <c:v>Aug 24</c:v>
                  </c:pt>
                  <c:pt idx="136">
                    <c:v>Aug 24</c:v>
                  </c:pt>
                  <c:pt idx="137">
                    <c:v>Aug 24</c:v>
                  </c:pt>
                  <c:pt idx="138">
                    <c:v>Aug 24</c:v>
                  </c:pt>
                  <c:pt idx="139">
                    <c:v>Aug 24</c:v>
                  </c:pt>
                  <c:pt idx="140">
                    <c:v>Sep 24</c:v>
                  </c:pt>
                  <c:pt idx="141">
                    <c:v>Sep 24</c:v>
                  </c:pt>
                  <c:pt idx="142">
                    <c:v>Sep 24</c:v>
                  </c:pt>
                  <c:pt idx="143">
                    <c:v>Sep 24</c:v>
                  </c:pt>
                  <c:pt idx="144">
                    <c:v>Oct 24</c:v>
                  </c:pt>
                  <c:pt idx="145">
                    <c:v>Oct 24</c:v>
                  </c:pt>
                  <c:pt idx="146">
                    <c:v>Oct 24</c:v>
                  </c:pt>
                  <c:pt idx="147">
                    <c:v>Oct 24</c:v>
                  </c:pt>
                  <c:pt idx="148">
                    <c:v>Nov 24</c:v>
                  </c:pt>
                  <c:pt idx="149">
                    <c:v>Nov 24</c:v>
                  </c:pt>
                  <c:pt idx="150">
                    <c:v>Nov 24</c:v>
                  </c:pt>
                  <c:pt idx="151">
                    <c:v>Nov 24</c:v>
                  </c:pt>
                  <c:pt idx="152">
                    <c:v>Nov 24</c:v>
                  </c:pt>
                  <c:pt idx="153">
                    <c:v>Dec 24</c:v>
                  </c:pt>
                  <c:pt idx="154">
                    <c:v>Dec 24</c:v>
                  </c:pt>
                  <c:pt idx="155">
                    <c:v>Dec 24</c:v>
                  </c:pt>
                  <c:pt idx="156">
                    <c:v>Dec 24</c:v>
                  </c:pt>
                  <c:pt idx="157">
                    <c:v>Jan 25</c:v>
                  </c:pt>
                  <c:pt idx="158">
                    <c:v>Jan 25</c:v>
                  </c:pt>
                  <c:pt idx="159">
                    <c:v>Jan 25</c:v>
                  </c:pt>
                  <c:pt idx="160">
                    <c:v>Jan 25</c:v>
                  </c:pt>
                </c:lvl>
              </c:multiLvlStrCache>
            </c:multiLvlStrRef>
          </c:cat>
          <c:val>
            <c:numRef>
              <c:f>Sheet1!$C$2:$C$162</c:f>
              <c:numCache>
                <c:formatCode>General</c:formatCode>
                <c:ptCount val="161"/>
                <c:pt idx="0">
                  <c:v>2.437</c:v>
                </c:pt>
                <c:pt idx="1">
                  <c:v>2.94</c:v>
                </c:pt>
                <c:pt idx="2">
                  <c:v>2.985</c:v>
                </c:pt>
                <c:pt idx="3">
                  <c:v>2.958</c:v>
                </c:pt>
                <c:pt idx="4">
                  <c:v>3.19</c:v>
                </c:pt>
                <c:pt idx="5">
                  <c:v>3.016</c:v>
                </c:pt>
                <c:pt idx="6">
                  <c:v>2.931</c:v>
                </c:pt>
                <c:pt idx="7">
                  <c:v>2.873</c:v>
                </c:pt>
                <c:pt idx="8">
                  <c:v>2.985</c:v>
                </c:pt>
                <c:pt idx="9">
                  <c:v>3.05</c:v>
                </c:pt>
                <c:pt idx="10">
                  <c:v>3.159</c:v>
                </c:pt>
                <c:pt idx="11">
                  <c:v>3.264</c:v>
                </c:pt>
                <c:pt idx="12">
                  <c:v>3.571</c:v>
                </c:pt>
                <c:pt idx="13">
                  <c:v>3.341</c:v>
                </c:pt>
                <c:pt idx="14">
                  <c:v>3.072</c:v>
                </c:pt>
                <c:pt idx="15">
                  <c:v>3.28</c:v>
                </c:pt>
                <c:pt idx="16">
                  <c:v>3.274</c:v>
                </c:pt>
                <c:pt idx="17">
                  <c:v>3.336</c:v>
                </c:pt>
                <c:pt idx="18">
                  <c:v>3.676</c:v>
                </c:pt>
                <c:pt idx="19">
                  <c:v>3.657</c:v>
                </c:pt>
                <c:pt idx="20">
                  <c:v>3.663</c:v>
                </c:pt>
                <c:pt idx="21">
                  <c:v>3.097</c:v>
                </c:pt>
                <c:pt idx="22">
                  <c:v>3.189</c:v>
                </c:pt>
                <c:pt idx="23">
                  <c:v>3.281</c:v>
                </c:pt>
                <c:pt idx="24">
                  <c:v>4.501</c:v>
                </c:pt>
                <c:pt idx="25">
                  <c:v>4.026</c:v>
                </c:pt>
                <c:pt idx="26">
                  <c:v>3.122</c:v>
                </c:pt>
                <c:pt idx="27">
                  <c:v>4.097</c:v>
                </c:pt>
                <c:pt idx="28">
                  <c:v>4.402</c:v>
                </c:pt>
                <c:pt idx="29">
                  <c:v>4.886</c:v>
                </c:pt>
                <c:pt idx="30">
                  <c:v>3.458</c:v>
                </c:pt>
                <c:pt idx="31">
                  <c:v>3.69</c:v>
                </c:pt>
                <c:pt idx="32">
                  <c:v>4.921</c:v>
                </c:pt>
                <c:pt idx="33">
                  <c:v>3.17</c:v>
                </c:pt>
                <c:pt idx="34">
                  <c:v>3.466</c:v>
                </c:pt>
                <c:pt idx="35">
                  <c:v>2.91</c:v>
                </c:pt>
                <c:pt idx="36">
                  <c:v>2.966</c:v>
                </c:pt>
                <c:pt idx="37">
                  <c:v>2.89</c:v>
                </c:pt>
                <c:pt idx="38">
                  <c:v>2.635</c:v>
                </c:pt>
                <c:pt idx="39">
                  <c:v>2.539</c:v>
                </c:pt>
                <c:pt idx="40">
                  <c:v>2.434</c:v>
                </c:pt>
                <c:pt idx="41">
                  <c:v>2.355</c:v>
                </c:pt>
                <c:pt idx="42">
                  <c:v>2.436</c:v>
                </c:pt>
                <c:pt idx="43">
                  <c:v>2.64</c:v>
                </c:pt>
                <c:pt idx="44">
                  <c:v>2.546</c:v>
                </c:pt>
                <c:pt idx="45">
                  <c:v>2.614</c:v>
                </c:pt>
                <c:pt idx="46">
                  <c:v>2.614</c:v>
                </c:pt>
                <c:pt idx="47">
                  <c:v>2.53</c:v>
                </c:pt>
                <c:pt idx="48">
                  <c:v>2.555</c:v>
                </c:pt>
                <c:pt idx="49">
                  <c:v>2.456</c:v>
                </c:pt>
                <c:pt idx="50">
                  <c:v>2.453</c:v>
                </c:pt>
                <c:pt idx="51">
                  <c:v>2.567</c:v>
                </c:pt>
                <c:pt idx="52">
                  <c:v>1.913</c:v>
                </c:pt>
                <c:pt idx="53">
                  <c:v>2.614</c:v>
                </c:pt>
                <c:pt idx="54">
                  <c:v>2.554</c:v>
                </c:pt>
                <c:pt idx="55">
                  <c:v>2.452</c:v>
                </c:pt>
                <c:pt idx="56">
                  <c:v>2.544</c:v>
                </c:pt>
                <c:pt idx="57">
                  <c:v>2.657</c:v>
                </c:pt>
                <c:pt idx="58">
                  <c:v>2.5</c:v>
                </c:pt>
                <c:pt idx="59">
                  <c:v>2.541</c:v>
                </c:pt>
                <c:pt idx="60">
                  <c:v>2.519</c:v>
                </c:pt>
                <c:pt idx="61">
                  <c:v>2.347</c:v>
                </c:pt>
                <c:pt idx="62">
                  <c:v>2.486</c:v>
                </c:pt>
                <c:pt idx="63">
                  <c:v>2.536</c:v>
                </c:pt>
                <c:pt idx="64">
                  <c:v>2.488</c:v>
                </c:pt>
                <c:pt idx="65">
                  <c:v>2.517</c:v>
                </c:pt>
                <c:pt idx="66">
                  <c:v>2.637</c:v>
                </c:pt>
                <c:pt idx="67">
                  <c:v>2.727</c:v>
                </c:pt>
                <c:pt idx="68">
                  <c:v>3.054</c:v>
                </c:pt>
                <c:pt idx="69">
                  <c:v>3.089</c:v>
                </c:pt>
                <c:pt idx="70">
                  <c:v>3.138</c:v>
                </c:pt>
                <c:pt idx="71">
                  <c:v>2.93</c:v>
                </c:pt>
                <c:pt idx="72">
                  <c:v>3.134</c:v>
                </c:pt>
                <c:pt idx="73">
                  <c:v>3.421</c:v>
                </c:pt>
                <c:pt idx="74">
                  <c:v>3.431</c:v>
                </c:pt>
                <c:pt idx="75">
                  <c:v>4.399</c:v>
                </c:pt>
                <c:pt idx="76">
                  <c:v>4.583</c:v>
                </c:pt>
                <c:pt idx="77">
                  <c:v>3.803</c:v>
                </c:pt>
                <c:pt idx="78">
                  <c:v>3.78</c:v>
                </c:pt>
                <c:pt idx="79">
                  <c:v>3.747</c:v>
                </c:pt>
                <c:pt idx="80">
                  <c:v>3.023</c:v>
                </c:pt>
                <c:pt idx="81">
                  <c:v>3.005</c:v>
                </c:pt>
                <c:pt idx="82">
                  <c:v>3.069</c:v>
                </c:pt>
                <c:pt idx="83">
                  <c:v>2.92</c:v>
                </c:pt>
                <c:pt idx="84">
                  <c:v>3.527</c:v>
                </c:pt>
                <c:pt idx="85">
                  <c:v>3.423</c:v>
                </c:pt>
                <c:pt idx="86">
                  <c:v>3.488</c:v>
                </c:pt>
                <c:pt idx="87">
                  <c:v>3.37</c:v>
                </c:pt>
                <c:pt idx="88">
                  <c:v>4.652</c:v>
                </c:pt>
                <c:pt idx="89">
                  <c:v>3.577</c:v>
                </c:pt>
                <c:pt idx="90">
                  <c:v>2.578</c:v>
                </c:pt>
                <c:pt idx="91">
                  <c:v>2.847</c:v>
                </c:pt>
                <c:pt idx="92">
                  <c:v>3.202</c:v>
                </c:pt>
                <c:pt idx="93">
                  <c:v>3.249</c:v>
                </c:pt>
                <c:pt idx="94">
                  <c:v>2.644</c:v>
                </c:pt>
                <c:pt idx="95">
                  <c:v>2.565</c:v>
                </c:pt>
                <c:pt idx="96">
                  <c:v>2.463</c:v>
                </c:pt>
                <c:pt idx="97">
                  <c:v>2.582</c:v>
                </c:pt>
                <c:pt idx="98">
                  <c:v>2.533</c:v>
                </c:pt>
                <c:pt idx="99">
                  <c:v>2.72</c:v>
                </c:pt>
                <c:pt idx="100">
                  <c:v>2.406</c:v>
                </c:pt>
                <c:pt idx="101">
                  <c:v>2.38</c:v>
                </c:pt>
                <c:pt idx="102">
                  <c:v>2.465</c:v>
                </c:pt>
                <c:pt idx="103">
                  <c:v>2.527</c:v>
                </c:pt>
                <c:pt idx="104">
                  <c:v>1.879</c:v>
                </c:pt>
                <c:pt idx="105">
                  <c:v>2.441</c:v>
                </c:pt>
                <c:pt idx="106">
                  <c:v>2.402</c:v>
                </c:pt>
                <c:pt idx="107">
                  <c:v>2.412</c:v>
                </c:pt>
                <c:pt idx="108">
                  <c:v>2.474</c:v>
                </c:pt>
                <c:pt idx="109">
                  <c:v>2.59</c:v>
                </c:pt>
                <c:pt idx="110">
                  <c:v>2.464</c:v>
                </c:pt>
                <c:pt idx="111">
                  <c:v>2.606</c:v>
                </c:pt>
                <c:pt idx="112">
                  <c:v>2.52</c:v>
                </c:pt>
                <c:pt idx="113">
                  <c:v>2.528</c:v>
                </c:pt>
                <c:pt idx="114">
                  <c:v>2.647</c:v>
                </c:pt>
                <c:pt idx="115">
                  <c:v>2.691</c:v>
                </c:pt>
                <c:pt idx="116">
                  <c:v>2.81</c:v>
                </c:pt>
                <c:pt idx="117">
                  <c:v>2.552</c:v>
                </c:pt>
                <c:pt idx="118">
                  <c:v>2.662</c:v>
                </c:pt>
                <c:pt idx="119">
                  <c:v>2.861</c:v>
                </c:pt>
                <c:pt idx="120">
                  <c:v>2.829</c:v>
                </c:pt>
                <c:pt idx="121">
                  <c:v>2.841</c:v>
                </c:pt>
                <c:pt idx="122">
                  <c:v>3.069</c:v>
                </c:pt>
                <c:pt idx="123">
                  <c:v>3.777</c:v>
                </c:pt>
                <c:pt idx="124">
                  <c:v>3.712</c:v>
                </c:pt>
                <c:pt idx="125">
                  <c:v>3.21</c:v>
                </c:pt>
                <c:pt idx="126">
                  <c:v>3.38</c:v>
                </c:pt>
                <c:pt idx="127">
                  <c:v>3.731</c:v>
                </c:pt>
                <c:pt idx="128">
                  <c:v>3.353</c:v>
                </c:pt>
                <c:pt idx="129">
                  <c:v>3.926</c:v>
                </c:pt>
                <c:pt idx="130">
                  <c:v>4.697</c:v>
                </c:pt>
                <c:pt idx="131">
                  <c:v>3.508</c:v>
                </c:pt>
                <c:pt idx="132">
                  <c:v>3.474</c:v>
                </c:pt>
                <c:pt idx="133">
                  <c:v>4.506</c:v>
                </c:pt>
                <c:pt idx="134">
                  <c:v>4.215</c:v>
                </c:pt>
                <c:pt idx="135">
                  <c:v>5.265</c:v>
                </c:pt>
                <c:pt idx="136">
                  <c:v>4.435</c:v>
                </c:pt>
                <c:pt idx="137">
                  <c:v>4.566</c:v>
                </c:pt>
                <c:pt idx="138">
                  <c:v>3.74</c:v>
                </c:pt>
                <c:pt idx="139">
                  <c:v>3.908</c:v>
                </c:pt>
                <c:pt idx="140">
                  <c:v>4.238</c:v>
                </c:pt>
                <c:pt idx="141">
                  <c:v>3.243</c:v>
                </c:pt>
                <c:pt idx="142">
                  <c:v>3.871</c:v>
                </c:pt>
                <c:pt idx="143">
                  <c:v>3.141</c:v>
                </c:pt>
                <c:pt idx="144">
                  <c:v>3.11</c:v>
                </c:pt>
                <c:pt idx="145">
                  <c:v>3.149</c:v>
                </c:pt>
                <c:pt idx="146">
                  <c:v>3.122</c:v>
                </c:pt>
                <c:pt idx="147">
                  <c:v>3.129</c:v>
                </c:pt>
                <c:pt idx="148">
                  <c:v>3.117</c:v>
                </c:pt>
                <c:pt idx="149">
                  <c:v>2.974</c:v>
                </c:pt>
                <c:pt idx="150">
                  <c:v>3.014</c:v>
                </c:pt>
                <c:pt idx="151">
                  <c:v>2.962</c:v>
                </c:pt>
                <c:pt idx="152">
                  <c:v>2.986</c:v>
                </c:pt>
                <c:pt idx="153">
                  <c:v>2.812</c:v>
                </c:pt>
                <c:pt idx="154">
                  <c:v>2.7</c:v>
                </c:pt>
                <c:pt idx="155">
                  <c:v>2.729</c:v>
                </c:pt>
                <c:pt idx="156">
                  <c:v>2.068</c:v>
                </c:pt>
                <c:pt idx="157">
                  <c:v>2.749</c:v>
                </c:pt>
                <c:pt idx="158">
                  <c:v>2.871</c:v>
                </c:pt>
                <c:pt idx="159">
                  <c:v>3.134</c:v>
                </c:pt>
                <c:pt idx="160">
                  <c:v>3.054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5"/>
            </a:solidFill>
            <a:prstDash val="solid"/>
            <a:round/>
          </a:ln>
        </c:spPr>
        <c:txPr>
          <a:bodyPr/>
          <a:lstStyle/>
          <a:p>
            <a:pPr>
              <a:defRPr sz="1100" b="0" i="0" u="none" strike="noStrike">
                <a:solidFill>
                  <a:srgbClr val="5B6B70"/>
                </a:solidFill>
                <a:latin typeface="+mn-lt"/>
              </a:defRPr>
            </a:pPr>
            <a:endParaRPr lang="en-US"/>
          </a:p>
        </c:txPr>
        <c:crossAx val="2094734552"/>
        <c:crosses val="autoZero"/>
        <c:auto val="1"/>
        <c:lblAlgn val="ctr"/>
        <c:noMultiLvlLbl val="1"/>
        <c:tickLblSkip val="13"/>
      </c:catAx>
      <c:valAx>
        <c:axId val="2094734552"/>
        <c:scaling>
          <c:orientation val="minMax"/>
          <c:min val="0"/>
        </c:scaling>
        <c:delete val="0"/>
        <c:axPos val="l"/>
        <c:majorGridlines>
          <c:spPr>
            <a:ln w="9525" cap="flat">
              <a:solidFill>
                <a:srgbClr val="E1E8E9"/>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B6B70"/>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5B6B7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having me. The question I was given: help an FMCG bottled-water brand understand how effective its media is, and what else drives its sales. I built a marketing mix model on three years of weekly data. I will start with the answer, then show the evidence, and finish with recommendations and how far the model can be trusted. About 15 minutes,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numbers to remember. One: weather is the biggest swing factor, about a fifth of volume, and each degree adds about 2%. Two: distribution is the strongest lever we control; one extra point of weighted distribution is worth about 3.7% volume, around £6M a year. Three: price matters relative to competitors; our premium grew a lot and cost volume in 2023. Four: media is small, about 0.8% of sales value in spend and about 1% of volume, returning £1.53 per £1 overall. Five: Online partnership is the best proven channel at about £3 per £1; TV and online video did not pay back in this data. Six: promotions are expensive; only about 28% of promoted volume is truly incremental. The bar at the bottom previews the recommendations I will come back to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161 weeks, January 2022 to January 2025, 90 variables. Volume peaks every summer and the shape matches temperature almost exactly. Prices rose sharply: the base price per kg went from 77p to £1.08. Part of that is a shift to smaller packs, which cost more per kg. Media is small and sparse: £3.5M over three years, under 1% of sales; TV ran only three weeks, OOH five. That matters later: with so few weeks some media effects are hard to pin down, and I will be upfront about that. Data checks: no missing values, no gaps in weeks, promo sales never exceed total sales, price equals value over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splits an average week in each month into three layers. The base is what the brand sells in a cool, dry week without media, given its price and shelf presence: about 79%. Weather, in orange, adds about 20% and drives all the summer peaks. Media is the thin red layer on top, about 1%. On the right, the size of each driver. One degree warmer adds about 1.9%, and above 20 degrees each degree adds another 2.2%, so heatwaves matter a lot. Christmas week drops about 22%. A 10% higher price relative to competitors costs about 4%. One point of distribution adds 3.7%. How we got this: a log-linear regression, so each coefficient reads directly as a percentage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on investment per channel: incremental revenue divided by spend. Incremental means the sales the model says would disappear if the channel were switched off. Online partnership: about £3.07 per £1, range £1.65 to £4.52, and a t-statistic above 4, so this is our most reliable result. OOH shows the highest point estimate, over £5, but it ran only five weeks; the range runs from zero to £13, so it is promising, not proven. TV returned about 27p and online video about 29p. TV spent £176k a week squeezed into three weeks, which puts it deep into diminishing returns. Social, Search and RDM cannot be measured: Social shows no positive lift, the other two are about 1% of budget. Important caveat: this is revenue ROI. Without margins I cannot say whether £1.53 overall is profitable.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Response curves show diminishing returns: each curve flattens as spend grows. The slope at today's spend is the marginal ROI, what the next pound returns, and that is what budget decisions should use. OOH and Online partnership are still on the steep part, around £2 to £3 for the next pound. TV and online video are flat, 10p and 20p. So a simple scenario: keep the total budget, move 30% of TV and video money, about £534k, into Online partnership in the weeks it already runs. The model says about £0.9M more revenue. Two cautions. Moving into OOH looks even better on paper, but OOH rests on five weeks, so I would test it first, for example with a regional test. And Online partnership saturates too, so this is a direction, not a precise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volume fall about 6% in 2023 and grow about 7% in 2024? In a log model the change splits exactly into each driver's contribution. 2023: the main cause is price. Our base price rose about 40% while competitors rose about 9%, so our premium over the competitor average went from 46% to 75%. That cost about 8 points of volume. 2024: distribution. Weighted distribution rose from about 40 to 43.5, worth about 13 points of volume, more than offsetting price and slightly cooler weather. Promotions: once distribution is in the model, no promotion variable adds explanatory power, including discount depth. Promotions seem to work by getting the brand sold in more stores. Through that route they add about 8% volume, while 26% of volume is sold on deal, so roughly 28% of promoted volume is extra and the rest would have sold at full price. Discounts doubled from 22% to 46% without extra volume per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 built it. First cleaning and exploration, which found traps: for example the number of stores selling rises every summer because it counts stores that sold at least one bottle, so it follows demand and cannot explain it. Second, media transformations: adstock, meaning an ad keeps working for a few weeks with a fading carryover; and saturation, meaning each extra pound does less. Carryover rates come from a grid search within sensible ranges, keeping only models where media has a positive effect. Third, an ordinary least squares regression on the log of weekly volume with ten drivers. Errors are correlated week to week, so I use Newey-West robust standard errors. Fourth, validation: trained without the last 12 weeks, the model forecast them within about 4%, so it is not overfitting. All variance inflation factors are below 4. Coefficients hold when any one year is dropped. The limits are on the right and I would rather state them than have them found: sparse media, overlapping campaigns, revenue rather than profit, and a price effect that depends on whether you allow a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recommendations. One: distribution is the biggest controllable lever; find out which retailers are missing. Two: price relative to competitors; our premium has grown to almost double the competitor average, and that cost volume in 2023. Three: media; shift money from TV and online video to Online partnership, and test OOH before scaling it. Four: promotions; deeper discounts did not buy more volume, so test shallower ones. The data also raises questions I would put to the client: did the price per kg rise because of list prices or a move to smaller packs; why promotions stopped in the second half of 2022; what Online partnership and RDM actually are; and whether in-store or trade activity is missing from the data. For the model itself, the natural next steps are a Bayesian version with priors, regional data with lift tests to calibrate it, and margin data for profit ROI.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model table. Coefficients are in log points: multiply by 100 for an approximate percentage effect per unit. Media coefficients apply to the transformed media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journey: temperature alone explains 61% of weekly variation; adding hot weeks, rain and Christmas takes it to 72%; price alone adds nothing until distribution is added, which jumps the fit to 91%. That is omitted-variable bias in action: distribution and price rose together in 2024, so without distribution the price effect was hidden. Diagnostics: Durbin-Watson 1.26 and Breusch-Godfrey show correlated errors, handled with Newey-West robust errors. Mild heteroskedasticity and fat tails from a few unusual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if asked why some channels could not be separated: they ran in the same weeks, so the data cannot tell their effects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candidate was added on top of the final model one at a time. Also tested and rejected earlier: number of stores selling (follows demand), competitor volumes (same demand drivers), average price (mixes in promotions).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841248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840480"/>
            <a:ext cx="8229600" cy="82296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
        <p:nvSpPr>
          <p:cNvPr id="4" name="Text 0"/>
          <p:cNvSpPr/>
          <p:nvPr>
            <p:ph idx="102" type="body" hasCustomPrompt="1"/>
          </p:nvPr>
        </p:nvSpPr>
        <p:spPr>
          <a:xfrm>
            <a:off x="731520" y="5760720"/>
            <a:ext cx="8229600" cy="45720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B70"/>
                </a:solidFill>
              </a:rPr>
              <a:t>Bottled water marketing mix model  ·  Jan 2022 – Jan 2025</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_DARK">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822960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474720"/>
            <a:ext cx="8229600" cy="73152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8412480" cy="1828800"/>
          </a:xfrm>
          <a:prstGeom prst="rect">
            <a:avLst/>
          </a:prstGeom>
          <a:noFill/>
          <a:ln/>
        </p:spPr>
        <p:txBody>
          <a:bodyPr wrap="square" lIns="0" tIns="0" rIns="0" bIns="0" rtlCol="0" anchor="b"/>
          <a:lstStyle/>
          <a:p>
            <a:pPr algn="l" indent="0" marL="0">
              <a:buNone/>
            </a:pPr>
            <a:r>
              <a:rPr lang="en-US" sz="4000" b="1" dirty="0">
                <a:solidFill>
                  <a:schemeClr val="bg1"/>
                </a:solidFill>
              </a:rPr>
              <a:t>What drives bottled-water sales, and what is media really worth?</a:t>
            </a:r>
            <a:endParaRPr lang="en-US" sz="4000" dirty="0"/>
          </a:p>
        </p:txBody>
      </p:sp>
      <p:sp>
        <p:nvSpPr>
          <p:cNvPr id="3" name="Text 0"/>
          <p:cNvSpPr/>
          <p:nvPr>
            <p:ph idx="101" type="body" hasCustomPrompt="1"/>
          </p:nvPr>
        </p:nvSpPr>
        <p:spPr>
          <a:xfrm>
            <a:off x="731520" y="3840480"/>
            <a:ext cx="8229600" cy="822960"/>
          </a:xfrm>
          <a:prstGeom prst="rect">
            <a:avLst/>
          </a:prstGeom>
          <a:noFill/>
          <a:ln/>
        </p:spPr>
        <p:txBody>
          <a:bodyPr wrap="square" lIns="0" tIns="0" rIns="0" bIns="0" rtlCol="0" anchor="t"/>
          <a:lstStyle/>
          <a:p>
            <a:pPr indent="0" marL="0">
              <a:buNone/>
            </a:pPr>
            <a:r>
              <a:rPr lang="en-US" sz="2000" dirty="0">
                <a:solidFill>
                  <a:schemeClr val="accent4"/>
                </a:solidFill>
              </a:rPr>
              <a:t>Marketing mix model  ·  161 weeks of data, Jan 2022 – Jan 2025</a:t>
            </a:r>
            <a:endParaRPr lang="en-US" sz="2000" dirty="0"/>
          </a:p>
        </p:txBody>
      </p:sp>
      <p:sp>
        <p:nvSpPr>
          <p:cNvPr id="4" name="Text 0"/>
          <p:cNvSpPr/>
          <p:nvPr>
            <p:ph idx="102" type="body" hasCustomPrompt="1"/>
          </p:nvPr>
        </p:nvSpPr>
        <p:spPr>
          <a:xfrm>
            <a:off x="731520" y="5760720"/>
            <a:ext cx="8229600" cy="457200"/>
          </a:xfrm>
          <a:prstGeom prst="rect">
            <a:avLst/>
          </a:prstGeom>
          <a:noFill/>
          <a:ln/>
        </p:spPr>
        <p:txBody>
          <a:bodyPr wrap="square" lIns="0" tIns="0" rIns="0" bIns="0" rtlCol="0"/>
          <a:lstStyle/>
          <a:p>
            <a:pPr indent="0" marL="0">
              <a:buNone/>
            </a:pPr>
            <a:r>
              <a:rPr lang="en-US" sz="1400" dirty="0">
                <a:solidFill>
                  <a:schemeClr val="bg2"/>
                </a:solidFill>
              </a:rPr>
              <a:t>Prepared by Yazan Alrefaai  ·  October 2026</a:t>
            </a:r>
            <a:endParaRPr lang="en-US" sz="1400" dirty="0"/>
          </a:p>
        </p:txBody>
      </p:sp>
      <p:sp>
        <p:nvSpPr>
          <p:cNvPr id="5" name="sun">
            <a:extLst>
              <a:ext uri="{C183D7F6-B498-43B3-948B-1728B52AA6E4}">
                <adec:decorative xmlns:adec="http://schemas.microsoft.com/office/drawing/2017/decorative" val="1"/>
              </a:ext>
            </a:extLst>
          </p:cNvPr>
          <p:cNvSpPr/>
          <p:nvPr/>
        </p:nvSpPr>
        <p:spPr>
          <a:xfrm>
            <a:off x="9418320" y="-1371600"/>
            <a:ext cx="4389120" cy="4389120"/>
          </a:xfrm>
          <a:prstGeom prst="ellipse">
            <a:avLst/>
          </a:prstGeom>
          <a:solidFill>
            <a:schemeClr val="accent2">
              <a:alpha val="90000"/>
            </a:schemeClr>
          </a:solidFill>
          <a:ln/>
        </p:spPr>
      </p:sp>
      <p:sp>
        <p:nvSpPr>
          <p:cNvPr id="6" name="water">
            <a:extLst>
              <a:ext uri="{C183D7F6-B498-43B3-948B-1728B52AA6E4}">
                <adec:decorative xmlns:adec="http://schemas.microsoft.com/office/drawing/2017/decorative" val="1"/>
              </a:ext>
            </a:extLst>
          </p:cNvPr>
          <p:cNvSpPr/>
          <p:nvPr/>
        </p:nvSpPr>
        <p:spPr>
          <a:xfrm>
            <a:off x="10241280" y="4297680"/>
            <a:ext cx="3108960" cy="3108960"/>
          </a:xfrm>
          <a:prstGeom prst="ellipse">
            <a:avLst/>
          </a:prstGeom>
          <a:solidFill>
            <a:schemeClr val="accent1">
              <a:alpha val="70000"/>
            </a:scheme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2800" b="1" dirty="0">
                <a:solidFill>
                  <a:schemeClr val="tx2"/>
                </a:solidFill>
              </a:rPr>
              <a:t>Weather, price and distribution drive sales; media adds about 1% and returns over £1 per £1 in only two channels</a:t>
            </a:r>
            <a:endParaRPr lang="en-US" sz="2800" dirty="0"/>
          </a:p>
        </p:txBody>
      </p:sp>
      <p:sp>
        <p:nvSpPr>
          <p:cNvPr id="3" name="summary card 1">
            <a:extLst>
              <a:ext uri="{C183D7F6-B498-43B3-948B-1728B52AA6E4}">
                <adec:decorative xmlns:adec="http://schemas.microsoft.com/office/drawing/2017/decorative" val="1"/>
              </a:ext>
            </a:extLst>
          </p:cNvPr>
          <p:cNvSpPr/>
          <p:nvPr/>
        </p:nvSpPr>
        <p:spPr>
          <a:xfrm>
            <a:off x="548640" y="1463040"/>
            <a:ext cx="3511296" cy="1874520"/>
          </a:xfrm>
          <a:prstGeom prst="roundRect">
            <a:avLst>
              <a:gd name="adj" fmla="val 5854"/>
            </a:avLst>
          </a:prstGeom>
          <a:solidFill>
            <a:schemeClr val="bg2"/>
          </a:solidFill>
          <a:ln/>
        </p:spPr>
      </p:sp>
      <p:sp>
        <p:nvSpPr>
          <p:cNvPr id="4" name="Text 2"/>
          <p:cNvSpPr txBox="1"/>
          <p:nvPr/>
        </p:nvSpPr>
        <p:spPr>
          <a:xfrm>
            <a:off x="822960" y="1645920"/>
            <a:ext cx="2962656" cy="685800"/>
          </a:xfrm>
          <a:prstGeom prst="rect">
            <a:avLst/>
          </a:prstGeom>
          <a:noFill/>
          <a:ln/>
        </p:spPr>
        <p:txBody>
          <a:bodyPr wrap="square" lIns="0" tIns="0" rIns="0" bIns="0" rtlCol="0" anchor="ctr"/>
          <a:lstStyle/>
          <a:p>
            <a:pPr indent="0" marL="0">
              <a:buNone/>
            </a:pPr>
            <a:r>
              <a:rPr lang="en-US" sz="3600" b="1" dirty="0">
                <a:solidFill>
                  <a:schemeClr val="accent1"/>
                </a:solidFill>
              </a:rPr>
              <a:t>20%</a:t>
            </a:r>
            <a:endParaRPr lang="en-US" sz="3600" dirty="0"/>
          </a:p>
        </p:txBody>
      </p:sp>
      <p:sp>
        <p:nvSpPr>
          <p:cNvPr id="5" name="Text 3"/>
          <p:cNvSpPr txBox="1"/>
          <p:nvPr/>
        </p:nvSpPr>
        <p:spPr>
          <a:xfrm>
            <a:off x="822960" y="2377440"/>
            <a:ext cx="2962656" cy="822960"/>
          </a:xfrm>
          <a:prstGeom prst="rect">
            <a:avLst/>
          </a:prstGeom>
          <a:noFill/>
          <a:ln/>
        </p:spPr>
        <p:txBody>
          <a:bodyPr wrap="square" lIns="0" tIns="0" rIns="0" bIns="0" rtlCol="0" anchor="t"/>
          <a:lstStyle/>
          <a:p>
            <a:pPr indent="0" marL="0">
              <a:buNone/>
            </a:pPr>
            <a:r>
              <a:rPr lang="en-US" sz="1400" dirty="0">
                <a:solidFill>
                  <a:schemeClr val="tx1"/>
                </a:solidFill>
              </a:rPr>
              <a:t>of volume comes from warm weather: +1.9% per °C, faster above 20°C</a:t>
            </a:r>
            <a:endParaRPr lang="en-US" sz="1400" dirty="0"/>
          </a:p>
        </p:txBody>
      </p:sp>
      <p:sp>
        <p:nvSpPr>
          <p:cNvPr id="6" name="summary card 2">
            <a:extLst>
              <a:ext uri="{C183D7F6-B498-43B3-948B-1728B52AA6E4}">
                <adec:decorative xmlns:adec="http://schemas.microsoft.com/office/drawing/2017/decorative" val="1"/>
              </a:ext>
            </a:extLst>
          </p:cNvPr>
          <p:cNvSpPr/>
          <p:nvPr/>
        </p:nvSpPr>
        <p:spPr>
          <a:xfrm>
            <a:off x="4334256" y="1463040"/>
            <a:ext cx="3511296" cy="1874520"/>
          </a:xfrm>
          <a:prstGeom prst="roundRect">
            <a:avLst>
              <a:gd name="adj" fmla="val 5854"/>
            </a:avLst>
          </a:prstGeom>
          <a:solidFill>
            <a:schemeClr val="bg2"/>
          </a:solidFill>
          <a:ln/>
        </p:spPr>
      </p:sp>
      <p:sp>
        <p:nvSpPr>
          <p:cNvPr id="7" name="Text 5"/>
          <p:cNvSpPr txBox="1"/>
          <p:nvPr/>
        </p:nvSpPr>
        <p:spPr>
          <a:xfrm>
            <a:off x="4608576" y="1645920"/>
            <a:ext cx="2962656" cy="685800"/>
          </a:xfrm>
          <a:prstGeom prst="rect">
            <a:avLst/>
          </a:prstGeom>
          <a:noFill/>
          <a:ln/>
        </p:spPr>
        <p:txBody>
          <a:bodyPr wrap="square" lIns="0" tIns="0" rIns="0" bIns="0" rtlCol="0" anchor="ctr"/>
          <a:lstStyle/>
          <a:p>
            <a:pPr indent="0" marL="0">
              <a:buNone/>
            </a:pPr>
            <a:r>
              <a:rPr lang="en-US" sz="3600" b="1" dirty="0">
                <a:solidFill>
                  <a:schemeClr val="accent1"/>
                </a:solidFill>
              </a:rPr>
              <a:t>+3.7%</a:t>
            </a:r>
            <a:endParaRPr lang="en-US" sz="3600" dirty="0"/>
          </a:p>
        </p:txBody>
      </p:sp>
      <p:sp>
        <p:nvSpPr>
          <p:cNvPr id="8" name="Text 6"/>
          <p:cNvSpPr txBox="1"/>
          <p:nvPr/>
        </p:nvSpPr>
        <p:spPr>
          <a:xfrm>
            <a:off x="4608576" y="2377440"/>
            <a:ext cx="2962656" cy="822960"/>
          </a:xfrm>
          <a:prstGeom prst="rect">
            <a:avLst/>
          </a:prstGeom>
          <a:noFill/>
          <a:ln/>
        </p:spPr>
        <p:txBody>
          <a:bodyPr wrap="square" lIns="0" tIns="0" rIns="0" bIns="0" rtlCol="0" anchor="t"/>
          <a:lstStyle/>
          <a:p>
            <a:pPr indent="0" marL="0">
              <a:buNone/>
            </a:pPr>
            <a:r>
              <a:rPr lang="en-US" sz="1400" dirty="0">
                <a:solidFill>
                  <a:schemeClr val="tx1"/>
                </a:solidFill>
              </a:rPr>
              <a:t>volume for each +1 point of distribution, the strongest lever (about £6M a year)</a:t>
            </a:r>
            <a:endParaRPr lang="en-US" sz="1400" dirty="0"/>
          </a:p>
        </p:txBody>
      </p:sp>
      <p:sp>
        <p:nvSpPr>
          <p:cNvPr id="9" name="summary card 3">
            <a:extLst>
              <a:ext uri="{C183D7F6-B498-43B3-948B-1728B52AA6E4}">
                <adec:decorative xmlns:adec="http://schemas.microsoft.com/office/drawing/2017/decorative" val="1"/>
              </a:ext>
            </a:extLst>
          </p:cNvPr>
          <p:cNvSpPr/>
          <p:nvPr/>
        </p:nvSpPr>
        <p:spPr>
          <a:xfrm>
            <a:off x="8119872" y="1463040"/>
            <a:ext cx="3511296" cy="1874520"/>
          </a:xfrm>
          <a:prstGeom prst="roundRect">
            <a:avLst>
              <a:gd name="adj" fmla="val 5854"/>
            </a:avLst>
          </a:prstGeom>
          <a:solidFill>
            <a:schemeClr val="bg2"/>
          </a:solidFill>
          <a:ln/>
        </p:spPr>
      </p:sp>
      <p:sp>
        <p:nvSpPr>
          <p:cNvPr id="10" name="Text 8"/>
          <p:cNvSpPr txBox="1"/>
          <p:nvPr/>
        </p:nvSpPr>
        <p:spPr>
          <a:xfrm>
            <a:off x="8394192" y="1645920"/>
            <a:ext cx="2962656" cy="685800"/>
          </a:xfrm>
          <a:prstGeom prst="rect">
            <a:avLst/>
          </a:prstGeom>
          <a:noFill/>
          <a:ln/>
        </p:spPr>
        <p:txBody>
          <a:bodyPr wrap="square" lIns="0" tIns="0" rIns="0" bIns="0" rtlCol="0" anchor="ctr"/>
          <a:lstStyle/>
          <a:p>
            <a:pPr indent="0" marL="0">
              <a:buNone/>
            </a:pPr>
            <a:r>
              <a:rPr lang="en-US" sz="3600" b="1" dirty="0">
                <a:solidFill>
                  <a:schemeClr val="accent3"/>
                </a:solidFill>
              </a:rPr>
              <a:t>−4.3%</a:t>
            </a:r>
            <a:endParaRPr lang="en-US" sz="3600" dirty="0"/>
          </a:p>
        </p:txBody>
      </p:sp>
      <p:sp>
        <p:nvSpPr>
          <p:cNvPr id="11" name="Text 9"/>
          <p:cNvSpPr txBox="1"/>
          <p:nvPr/>
        </p:nvSpPr>
        <p:spPr>
          <a:xfrm>
            <a:off x="8394192" y="2377440"/>
            <a:ext cx="2962656" cy="822960"/>
          </a:xfrm>
          <a:prstGeom prst="rect">
            <a:avLst/>
          </a:prstGeom>
          <a:noFill/>
          <a:ln/>
        </p:spPr>
        <p:txBody>
          <a:bodyPr wrap="square" lIns="0" tIns="0" rIns="0" bIns="0" rtlCol="0" anchor="t"/>
          <a:lstStyle/>
          <a:p>
            <a:pPr indent="0" marL="0">
              <a:buNone/>
            </a:pPr>
            <a:r>
              <a:rPr lang="en-US" sz="1400" dirty="0">
                <a:solidFill>
                  <a:schemeClr val="tx1"/>
                </a:solidFill>
              </a:rPr>
              <a:t>volume when our price rises 10% vs competitors; our premium grew from +46% to +89%</a:t>
            </a:r>
            <a:endParaRPr lang="en-US" sz="1400" dirty="0"/>
          </a:p>
        </p:txBody>
      </p:sp>
      <p:sp>
        <p:nvSpPr>
          <p:cNvPr id="12" name="summary card 4">
            <a:extLst>
              <a:ext uri="{C183D7F6-B498-43B3-948B-1728B52AA6E4}">
                <adec:decorative xmlns:adec="http://schemas.microsoft.com/office/drawing/2017/decorative" val="1"/>
              </a:ext>
            </a:extLst>
          </p:cNvPr>
          <p:cNvSpPr/>
          <p:nvPr/>
        </p:nvSpPr>
        <p:spPr>
          <a:xfrm>
            <a:off x="548640" y="3611880"/>
            <a:ext cx="3511296" cy="1874520"/>
          </a:xfrm>
          <a:prstGeom prst="roundRect">
            <a:avLst>
              <a:gd name="adj" fmla="val 5854"/>
            </a:avLst>
          </a:prstGeom>
          <a:solidFill>
            <a:schemeClr val="bg2"/>
          </a:solidFill>
          <a:ln/>
        </p:spPr>
      </p:sp>
      <p:sp>
        <p:nvSpPr>
          <p:cNvPr id="13" name="Text 11"/>
          <p:cNvSpPr txBox="1"/>
          <p:nvPr/>
        </p:nvSpPr>
        <p:spPr>
          <a:xfrm>
            <a:off x="822960" y="3794760"/>
            <a:ext cx="2962656" cy="685800"/>
          </a:xfrm>
          <a:prstGeom prst="rect">
            <a:avLst/>
          </a:prstGeom>
          <a:noFill/>
          <a:ln/>
        </p:spPr>
        <p:txBody>
          <a:bodyPr wrap="square" lIns="0" tIns="0" rIns="0" bIns="0" rtlCol="0" anchor="ctr"/>
          <a:lstStyle/>
          <a:p>
            <a:pPr indent="0" marL="0">
              <a:buNone/>
            </a:pPr>
            <a:r>
              <a:rPr lang="en-US" sz="3600" b="1" dirty="0">
                <a:solidFill>
                  <a:schemeClr val="accent1"/>
                </a:solidFill>
              </a:rPr>
              <a:t>~1%</a:t>
            </a:r>
            <a:endParaRPr lang="en-US" sz="3600" dirty="0"/>
          </a:p>
        </p:txBody>
      </p:sp>
      <p:sp>
        <p:nvSpPr>
          <p:cNvPr id="14" name="Text 12"/>
          <p:cNvSpPr txBox="1"/>
          <p:nvPr/>
        </p:nvSpPr>
        <p:spPr>
          <a:xfrm>
            <a:off x="822960" y="4526280"/>
            <a:ext cx="2962656" cy="822960"/>
          </a:xfrm>
          <a:prstGeom prst="rect">
            <a:avLst/>
          </a:prstGeom>
          <a:noFill/>
          <a:ln/>
        </p:spPr>
        <p:txBody>
          <a:bodyPr wrap="square" lIns="0" tIns="0" rIns="0" bIns="0" rtlCol="0" anchor="t"/>
          <a:lstStyle/>
          <a:p>
            <a:pPr indent="0" marL="0">
              <a:buNone/>
            </a:pPr>
            <a:r>
              <a:rPr lang="en-US" sz="1400" dirty="0">
                <a:solidFill>
                  <a:schemeClr val="tx1"/>
                </a:solidFill>
              </a:rPr>
              <a:t>of volume driven by media; £1.53 revenue per £1 across modelled channels</a:t>
            </a:r>
            <a:endParaRPr lang="en-US" sz="1400" dirty="0"/>
          </a:p>
        </p:txBody>
      </p:sp>
      <p:sp>
        <p:nvSpPr>
          <p:cNvPr id="15" name="summary card 5">
            <a:extLst>
              <a:ext uri="{C183D7F6-B498-43B3-948B-1728B52AA6E4}">
                <adec:decorative xmlns:adec="http://schemas.microsoft.com/office/drawing/2017/decorative" val="1"/>
              </a:ext>
            </a:extLst>
          </p:cNvPr>
          <p:cNvSpPr/>
          <p:nvPr/>
        </p:nvSpPr>
        <p:spPr>
          <a:xfrm>
            <a:off x="4334256" y="3611880"/>
            <a:ext cx="3511296" cy="1874520"/>
          </a:xfrm>
          <a:prstGeom prst="roundRect">
            <a:avLst>
              <a:gd name="adj" fmla="val 5854"/>
            </a:avLst>
          </a:prstGeom>
          <a:solidFill>
            <a:schemeClr val="bg2"/>
          </a:solidFill>
          <a:ln/>
        </p:spPr>
      </p:sp>
      <p:sp>
        <p:nvSpPr>
          <p:cNvPr id="16" name="Text 14"/>
          <p:cNvSpPr txBox="1"/>
          <p:nvPr/>
        </p:nvSpPr>
        <p:spPr>
          <a:xfrm>
            <a:off x="4608576" y="3794760"/>
            <a:ext cx="2962656" cy="685800"/>
          </a:xfrm>
          <a:prstGeom prst="rect">
            <a:avLst/>
          </a:prstGeom>
          <a:noFill/>
          <a:ln/>
        </p:spPr>
        <p:txBody>
          <a:bodyPr wrap="square" lIns="0" tIns="0" rIns="0" bIns="0" rtlCol="0" anchor="ctr"/>
          <a:lstStyle/>
          <a:p>
            <a:pPr indent="0" marL="0">
              <a:buNone/>
            </a:pPr>
            <a:r>
              <a:rPr lang="en-US" sz="3600" b="1" dirty="0">
                <a:solidFill>
                  <a:schemeClr val="accent1"/>
                </a:solidFill>
              </a:rPr>
              <a:t>£3.07</a:t>
            </a:r>
            <a:endParaRPr lang="en-US" sz="3600" dirty="0"/>
          </a:p>
        </p:txBody>
      </p:sp>
      <p:sp>
        <p:nvSpPr>
          <p:cNvPr id="17" name="Text 15"/>
          <p:cNvSpPr txBox="1"/>
          <p:nvPr/>
        </p:nvSpPr>
        <p:spPr>
          <a:xfrm>
            <a:off x="4608576" y="4526280"/>
            <a:ext cx="2962656" cy="822960"/>
          </a:xfrm>
          <a:prstGeom prst="rect">
            <a:avLst/>
          </a:prstGeom>
          <a:noFill/>
          <a:ln/>
        </p:spPr>
        <p:txBody>
          <a:bodyPr wrap="square" lIns="0" tIns="0" rIns="0" bIns="0" rtlCol="0" anchor="t"/>
          <a:lstStyle/>
          <a:p>
            <a:pPr indent="0" marL="0">
              <a:buNone/>
            </a:pPr>
            <a:r>
              <a:rPr lang="en-US" sz="1400" dirty="0">
                <a:solidFill>
                  <a:schemeClr val="tx1"/>
                </a:solidFill>
              </a:rPr>
              <a:t>per £1 from Online partnership, the best proven channel; TV and online video under £0.30</a:t>
            </a:r>
            <a:endParaRPr lang="en-US" sz="1400" dirty="0"/>
          </a:p>
        </p:txBody>
      </p:sp>
      <p:sp>
        <p:nvSpPr>
          <p:cNvPr id="18" name="summary card 6">
            <a:extLst>
              <a:ext uri="{C183D7F6-B498-43B3-948B-1728B52AA6E4}">
                <adec:decorative xmlns:adec="http://schemas.microsoft.com/office/drawing/2017/decorative" val="1"/>
              </a:ext>
            </a:extLst>
          </p:cNvPr>
          <p:cNvSpPr/>
          <p:nvPr/>
        </p:nvSpPr>
        <p:spPr>
          <a:xfrm>
            <a:off x="8119872" y="3611880"/>
            <a:ext cx="3511296" cy="1874520"/>
          </a:xfrm>
          <a:prstGeom prst="roundRect">
            <a:avLst>
              <a:gd name="adj" fmla="val 5854"/>
            </a:avLst>
          </a:prstGeom>
          <a:solidFill>
            <a:schemeClr val="bg2"/>
          </a:solidFill>
          <a:ln/>
        </p:spPr>
      </p:sp>
      <p:sp>
        <p:nvSpPr>
          <p:cNvPr id="19" name="Text 17"/>
          <p:cNvSpPr txBox="1"/>
          <p:nvPr/>
        </p:nvSpPr>
        <p:spPr>
          <a:xfrm>
            <a:off x="8394192" y="3794760"/>
            <a:ext cx="2962656" cy="685800"/>
          </a:xfrm>
          <a:prstGeom prst="rect">
            <a:avLst/>
          </a:prstGeom>
          <a:noFill/>
          <a:ln/>
        </p:spPr>
        <p:txBody>
          <a:bodyPr wrap="square" lIns="0" tIns="0" rIns="0" bIns="0" rtlCol="0" anchor="ctr"/>
          <a:lstStyle/>
          <a:p>
            <a:pPr indent="0" marL="0">
              <a:buNone/>
            </a:pPr>
            <a:r>
              <a:rPr lang="en-US" sz="3600" b="1" dirty="0">
                <a:solidFill>
                  <a:schemeClr val="accent3"/>
                </a:solidFill>
              </a:rPr>
              <a:t>28%</a:t>
            </a:r>
            <a:endParaRPr lang="en-US" sz="3600" dirty="0"/>
          </a:p>
        </p:txBody>
      </p:sp>
      <p:sp>
        <p:nvSpPr>
          <p:cNvPr id="20" name="Text 18"/>
          <p:cNvSpPr txBox="1"/>
          <p:nvPr/>
        </p:nvSpPr>
        <p:spPr>
          <a:xfrm>
            <a:off x="8394192" y="4526280"/>
            <a:ext cx="2962656" cy="822960"/>
          </a:xfrm>
          <a:prstGeom prst="rect">
            <a:avLst/>
          </a:prstGeom>
          <a:noFill/>
          <a:ln/>
        </p:spPr>
        <p:txBody>
          <a:bodyPr wrap="square" lIns="0" tIns="0" rIns="0" bIns="0" rtlCol="0" anchor="t"/>
          <a:lstStyle/>
          <a:p>
            <a:pPr indent="0" marL="0">
              <a:buNone/>
            </a:pPr>
            <a:r>
              <a:rPr lang="en-US" sz="1400" dirty="0">
                <a:solidFill>
                  <a:schemeClr val="tx1"/>
                </a:solidFill>
              </a:rPr>
              <a:t>of promoted volume is estimated to be extra; discounts deepened from 22% to 46% with no extra volume</a:t>
            </a:r>
            <a:endParaRPr lang="en-US" sz="1400" dirty="0"/>
          </a:p>
        </p:txBody>
      </p:sp>
      <p:sp>
        <p:nvSpPr>
          <p:cNvPr id="21" name="recommendation bar">
            <a:extLst>
              <a:ext uri="{C183D7F6-B498-43B3-948B-1728B52AA6E4}">
                <adec:decorative xmlns:adec="http://schemas.microsoft.com/office/drawing/2017/decorative" val="1"/>
              </a:ext>
            </a:extLst>
          </p:cNvPr>
          <p:cNvSpPr/>
          <p:nvPr/>
        </p:nvSpPr>
        <p:spPr>
          <a:xfrm>
            <a:off x="548640" y="5669280"/>
            <a:ext cx="11091672" cy="548640"/>
          </a:xfrm>
          <a:prstGeom prst="roundRect">
            <a:avLst>
              <a:gd name="adj" fmla="val 16667"/>
            </a:avLst>
          </a:prstGeom>
          <a:solidFill>
            <a:schemeClr val="tx2"/>
          </a:solidFill>
          <a:ln/>
        </p:spPr>
      </p:sp>
      <p:sp>
        <p:nvSpPr>
          <p:cNvPr id="22" name="Text 20"/>
          <p:cNvSpPr txBox="1"/>
          <p:nvPr/>
        </p:nvSpPr>
        <p:spPr>
          <a:xfrm>
            <a:off x="777240" y="5669280"/>
            <a:ext cx="10698480" cy="548640"/>
          </a:xfrm>
          <a:prstGeom prst="rect">
            <a:avLst/>
          </a:prstGeom>
          <a:noFill/>
          <a:ln/>
        </p:spPr>
        <p:txBody>
          <a:bodyPr wrap="square" lIns="0" tIns="0" rIns="0" bIns="0" rtlCol="0" anchor="ctr"/>
          <a:lstStyle/>
          <a:p>
            <a:pPr indent="0" marL="0">
              <a:buNone/>
            </a:pPr>
            <a:r>
              <a:rPr lang="en-US" sz="1400" b="1" dirty="0">
                <a:solidFill>
                  <a:schemeClr val="accent2"/>
                </a:solidFill>
              </a:rPr>
              <a:t>Next moves:  </a:t>
            </a:r>
            <a:pPr indent="0" marL="0">
              <a:buNone/>
            </a:pPr>
            <a:r>
              <a:rPr lang="en-US" sz="1400" dirty="0">
                <a:solidFill>
                  <a:schemeClr val="bg1"/>
                </a:solidFill>
              </a:rPr>
              <a:t>grow distribution · mind the price gap · shift TV/video budget to Online partnership · test OOH · shallower promotions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2800" b="1" dirty="0">
                <a:solidFill>
                  <a:schemeClr val="tx2"/>
                </a:solidFill>
              </a:rPr>
              <a:t>Three years of weekly data: sales follow the temperature, prices nearly doubled and media was sparse</a:t>
            </a:r>
            <a:endParaRPr lang="en-US" sz="2800" dirty="0"/>
          </a:p>
        </p:txBody>
      </p:sp>
      <p:graphicFrame>
        <p:nvGraphicFramePr>
          <p:cNvPr id="3" name="Chart 0" descr="Line chart of weekly volume sales, Jan 2022 to Jan 2025: peaks every summer between 4.5 and 5.4 million kg, winter lows around 2 to 2.5 million kg."/>
          <p:cNvGraphicFramePr/>
          <p:nvPr/>
        </p:nvGraphicFramePr>
        <p:xfrm>
          <a:off x="548640" y="1417320"/>
          <a:ext cx="722376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Line chart of weekly max temperature: summer highs of 26 to 34°C, winter lows of 6 to 10°C, matching the shape of volume sales."/>
          <p:cNvGraphicFramePr/>
          <p:nvPr/>
        </p:nvGraphicFramePr>
        <p:xfrm>
          <a:off x="548640" y="3977640"/>
          <a:ext cx="7223760" cy="2194560"/>
        </p:xfrm>
        <a:graphic xmlns:a="http://schemas.openxmlformats.org/drawingml/2006/main">
          <a:graphicData uri="http://schemas.openxmlformats.org/drawingml/2006/chart">
            <c:chart xmlns:c="http://schemas.openxmlformats.org/drawingml/2006/chart" r:id="rId2"/>
          </a:graphicData>
        </a:graphic>
      </p:graphicFrame>
      <p:sp>
        <p:nvSpPr>
          <p:cNvPr id="5" name="facts card">
            <a:extLst>
              <a:ext uri="{C183D7F6-B498-43B3-948B-1728B52AA6E4}">
                <adec:decorative xmlns:adec="http://schemas.microsoft.com/office/drawing/2017/decorative" val="1"/>
              </a:ext>
            </a:extLst>
          </p:cNvPr>
          <p:cNvSpPr/>
          <p:nvPr/>
        </p:nvSpPr>
        <p:spPr>
          <a:xfrm>
            <a:off x="8092440" y="1463040"/>
            <a:ext cx="3547872" cy="4709160"/>
          </a:xfrm>
          <a:prstGeom prst="roundRect">
            <a:avLst>
              <a:gd name="adj" fmla="val 3093"/>
            </a:avLst>
          </a:prstGeom>
          <a:solidFill>
            <a:schemeClr val="bg2"/>
          </a:solidFill>
          <a:ln/>
        </p:spPr>
      </p:sp>
      <p:sp>
        <p:nvSpPr>
          <p:cNvPr id="6" name="Text 2"/>
          <p:cNvSpPr txBox="1"/>
          <p:nvPr/>
        </p:nvSpPr>
        <p:spPr>
          <a:xfrm>
            <a:off x="8321040" y="1645920"/>
            <a:ext cx="3108960" cy="1005840"/>
          </a:xfrm>
          <a:prstGeom prst="rect">
            <a:avLst/>
          </a:prstGeom>
          <a:noFill/>
          <a:ln/>
        </p:spPr>
        <p:txBody>
          <a:bodyPr wrap="square" lIns="0" tIns="0" rIns="0" bIns="0" rtlCol="0" anchor="t"/>
          <a:lstStyle/>
          <a:p>
            <a:pPr indent="0" marL="0">
              <a:buNone/>
            </a:pPr>
            <a:r>
              <a:rPr lang="en-US" sz="2400" b="1" dirty="0">
                <a:solidFill>
                  <a:schemeClr val="accent1"/>
                </a:solidFill>
              </a:rPr>
              <a:t>161 weeks</a:t>
            </a:r>
            <a:endParaRPr lang="en-US" sz="2400" dirty="0"/>
          </a:p>
          <a:p>
            <a:pPr indent="0" marL="0">
              <a:buNone/>
            </a:pPr>
            <a:r>
              <a:rPr lang="en-US" sz="1400" dirty="0">
                <a:solidFill>
                  <a:schemeClr val="tx1"/>
                </a:solidFill>
              </a:rPr>
              <a:t>90 variables: sales, price, promotion, distribution, competitors, weather, media</a:t>
            </a:r>
            <a:endParaRPr lang="en-US" sz="2400" dirty="0"/>
          </a:p>
        </p:txBody>
      </p:sp>
      <p:sp>
        <p:nvSpPr>
          <p:cNvPr id="7" name="Text 3"/>
          <p:cNvSpPr txBox="1"/>
          <p:nvPr/>
        </p:nvSpPr>
        <p:spPr>
          <a:xfrm>
            <a:off x="8321040" y="2761488"/>
            <a:ext cx="3108960" cy="1005840"/>
          </a:xfrm>
          <a:prstGeom prst="rect">
            <a:avLst/>
          </a:prstGeom>
          <a:noFill/>
          <a:ln/>
        </p:spPr>
        <p:txBody>
          <a:bodyPr wrap="square" lIns="0" tIns="0" rIns="0" bIns="0" rtlCol="0" anchor="t"/>
          <a:lstStyle/>
          <a:p>
            <a:pPr indent="0" marL="0">
              <a:buNone/>
            </a:pPr>
            <a:r>
              <a:rPr lang="en-US" sz="2400" b="1" dirty="0">
                <a:solidFill>
                  <a:schemeClr val="accent1"/>
                </a:solidFill>
              </a:rPr>
              <a:t>£450M</a:t>
            </a:r>
            <a:endParaRPr lang="en-US" sz="2400" dirty="0"/>
          </a:p>
          <a:p>
            <a:pPr indent="0" marL="0">
              <a:buNone/>
            </a:pPr>
            <a:r>
              <a:rPr lang="en-US" sz="1400" dirty="0">
                <a:solidFill>
                  <a:schemeClr val="tx1"/>
                </a:solidFill>
              </a:rPr>
              <a:t>value sales; volume moves with temperature (correlation 0.79)</a:t>
            </a:r>
            <a:endParaRPr lang="en-US" sz="2400" dirty="0"/>
          </a:p>
        </p:txBody>
      </p:sp>
      <p:sp>
        <p:nvSpPr>
          <p:cNvPr id="8" name="Text 4"/>
          <p:cNvSpPr txBox="1"/>
          <p:nvPr/>
        </p:nvSpPr>
        <p:spPr>
          <a:xfrm>
            <a:off x="8321040" y="3877056"/>
            <a:ext cx="3108960" cy="1005840"/>
          </a:xfrm>
          <a:prstGeom prst="rect">
            <a:avLst/>
          </a:prstGeom>
          <a:noFill/>
          <a:ln/>
        </p:spPr>
        <p:txBody>
          <a:bodyPr wrap="square" lIns="0" tIns="0" rIns="0" bIns="0" rtlCol="0" anchor="t"/>
          <a:lstStyle/>
          <a:p>
            <a:pPr indent="0" marL="0">
              <a:buNone/>
            </a:pPr>
            <a:r>
              <a:rPr lang="en-US" sz="2400" b="1" dirty="0">
                <a:solidFill>
                  <a:schemeClr val="accent1"/>
                </a:solidFill>
              </a:rPr>
              <a:t>£0.77 → £1.08</a:t>
            </a:r>
            <a:endParaRPr lang="en-US" sz="2400" dirty="0"/>
          </a:p>
          <a:p>
            <a:pPr indent="0" marL="0">
              <a:buNone/>
            </a:pPr>
            <a:r>
              <a:rPr lang="en-US" sz="1400" dirty="0">
                <a:solidFill>
                  <a:schemeClr val="tx1"/>
                </a:solidFill>
              </a:rPr>
              <a:t>average base price per kg, 2022 to 2024</a:t>
            </a:r>
            <a:endParaRPr lang="en-US" sz="2400" dirty="0"/>
          </a:p>
        </p:txBody>
      </p:sp>
      <p:sp>
        <p:nvSpPr>
          <p:cNvPr id="9" name="Text 5"/>
          <p:cNvSpPr txBox="1"/>
          <p:nvPr/>
        </p:nvSpPr>
        <p:spPr>
          <a:xfrm>
            <a:off x="8321040" y="4992624"/>
            <a:ext cx="3108960" cy="1005840"/>
          </a:xfrm>
          <a:prstGeom prst="rect">
            <a:avLst/>
          </a:prstGeom>
          <a:noFill/>
          <a:ln/>
        </p:spPr>
        <p:txBody>
          <a:bodyPr wrap="square" lIns="0" tIns="0" rIns="0" bIns="0" rtlCol="0" anchor="t"/>
          <a:lstStyle/>
          <a:p>
            <a:pPr indent="0" marL="0">
              <a:buNone/>
            </a:pPr>
            <a:r>
              <a:rPr lang="en-US" sz="2400" b="1" dirty="0">
                <a:solidFill>
                  <a:schemeClr val="accent1"/>
                </a:solidFill>
              </a:rPr>
              <a:t>£3.5M</a:t>
            </a:r>
            <a:endParaRPr lang="en-US" sz="2400" dirty="0"/>
          </a:p>
          <a:p>
            <a:pPr indent="0" marL="0">
              <a:buNone/>
            </a:pPr>
            <a:r>
              <a:rPr lang="en-US" sz="1400" dirty="0">
                <a:solidFill>
                  <a:schemeClr val="tx1"/>
                </a:solidFill>
              </a:rPr>
              <a:t>media over 3 years, only 0.8% of sales; TV ran 3 weeks, OOH 5</a:t>
            </a:r>
            <a:endParaRPr lang="en-US" sz="2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2800" b="1" dirty="0">
                <a:solidFill>
                  <a:schemeClr val="tx2"/>
                </a:solidFill>
              </a:rPr>
              <a:t>Base sales and weather explain 99% of volume; media adds a thin layer of about 1%</a:t>
            </a:r>
            <a:endParaRPr lang="en-US" sz="2800" dirty="0"/>
          </a:p>
        </p:txBody>
      </p:sp>
      <p:graphicFrame>
        <p:nvGraphicFramePr>
          <p:cNvPr id="3" name="Chart 0" descr="Stacked area chart of average weekly volume per month split into base, weather and media: base about 2.2 to 2.8 million kg, weather adds up to 1.7 million kg in summer, media a thin layer."/>
          <p:cNvGraphicFramePr/>
          <p:nvPr/>
        </p:nvGraphicFramePr>
        <p:xfrm>
          <a:off x="548640" y="1417320"/>
          <a:ext cx="704088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effect of each driver on weekly volume" descr="Table: effect of each driver on weekly volume"/>
          <p:cNvGraphicFramePr>
            <a:graphicFrameLocks noGrp="1"/>
          </p:cNvGraphicFramePr>
          <p:nvPr>
            <p:extLst>
              <p:ext uri="{D42A27DB-BD31-4B8C-83A1-F6EECF244321}">
                <p14:modId xmlns:p14="http://schemas.microsoft.com/office/powerpoint/2010/main" val="1579011935"/>
              </p:ext>
            </p:extLst>
          </p:nvPr>
        </p:nvGraphicFramePr>
        <p:xfrm>
          <a:off x="7955280" y="1463040"/>
          <a:ext cx="3685032" cy="914400"/>
        </p:xfrm>
        <a:graphic>
          <a:graphicData uri="http://schemas.openxmlformats.org/drawingml/2006/table">
            <a:tbl>
              <a:tblPr firstRow="1" bandRow="1"/>
              <a:tblGrid>
                <a:gridCol w="2679192"/>
                <a:gridCol w="1005840"/>
              </a:tblGrid>
              <a:tr h="457200">
                <a:tc>
                  <a:txBody>
                    <a:bodyPr/>
                    <a:lstStyle/>
                    <a:p>
                      <a:pPr algn="l" indent="0" marL="0">
                        <a:buNone/>
                      </a:pPr>
                      <a:r>
                        <a:rPr lang="en-US" sz="1400" b="1" dirty="0">
                          <a:solidFill>
                            <a:schemeClr val="bg1"/>
                          </a:solidFill>
                        </a:rPr>
                        <a:t>Driver</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400" b="1" dirty="0">
                          <a:solidFill>
                            <a:schemeClr val="bg1"/>
                          </a:solidFill>
                        </a:rPr>
                        <a:t>Effect</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rgbClr val="0B3C49"/>
                    </a:solidFill>
                  </a:tcPr>
                </a:tc>
              </a:tr>
              <a:tr h="457200">
                <a:tc>
                  <a:txBody>
                    <a:bodyPr/>
                    <a:lstStyle/>
                    <a:p>
                      <a:pPr indent="0" marL="0">
                        <a:buNone/>
                      </a:pPr>
                      <a:r>
                        <a:rPr lang="en-US" sz="1400" dirty="0">
                          <a:solidFill>
                            <a:schemeClr val="tx1"/>
                          </a:solidFill>
                        </a:rPr>
                        <a:t>+1°C max temperature</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400" b="1" dirty="0">
                          <a:solidFill>
                            <a:srgbClr val="1B7F8C"/>
                          </a:solidFill>
                        </a:rPr>
                        <a:t>+1.9%</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rgbClr val="EEF6F7"/>
                    </a:solidFill>
                  </a:tcPr>
                </a:tc>
              </a:tr>
              <a:tr h="457200">
                <a:tc>
                  <a:txBody>
                    <a:bodyPr/>
                    <a:lstStyle/>
                    <a:p>
                      <a:pPr indent="0" marL="0">
                        <a:buNone/>
                      </a:pPr>
                      <a:r>
                        <a:rPr lang="en-US" sz="1400" dirty="0">
                          <a:solidFill>
                            <a:schemeClr val="tx1"/>
                          </a:solidFill>
                        </a:rPr>
                        <a:t>Each °C above 20°C (extra)</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1B7F8C"/>
                          </a:solidFill>
                        </a:rPr>
                        <a:t>+2.2%</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400" dirty="0">
                          <a:solidFill>
                            <a:schemeClr val="tx1"/>
                          </a:solidFill>
                        </a:rPr>
                        <a:t>+10 mm rain</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400" b="1" dirty="0">
                          <a:solidFill>
                            <a:srgbClr val="E4572E"/>
                          </a:solidFill>
                        </a:rPr>
                        <a:t>−1.7%</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rgbClr val="EEF6F7"/>
                    </a:solidFill>
                  </a:tcPr>
                </a:tc>
              </a:tr>
              <a:tr h="457200">
                <a:tc>
                  <a:txBody>
                    <a:bodyPr/>
                    <a:lstStyle/>
                    <a:p>
                      <a:pPr indent="0" marL="0">
                        <a:buNone/>
                      </a:pPr>
                      <a:r>
                        <a:rPr lang="en-US" sz="1400" dirty="0">
                          <a:solidFill>
                            <a:schemeClr val="tx1"/>
                          </a:solidFill>
                        </a:rPr>
                        <a:t>Christmas / New Year week</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E4572E"/>
                          </a:solidFill>
                        </a:rPr>
                        <a:t>−22%</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400" dirty="0">
                          <a:solidFill>
                            <a:schemeClr val="tx1"/>
                          </a:solidFill>
                        </a:rPr>
                        <a:t>+10% price vs competitors</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400" b="1" dirty="0">
                          <a:solidFill>
                            <a:srgbClr val="E4572E"/>
                          </a:solidFill>
                        </a:rPr>
                        <a:t>−4.3%</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rgbClr val="EEF6F7"/>
                    </a:solidFill>
                  </a:tcPr>
                </a:tc>
              </a:tr>
              <a:tr h="457200">
                <a:tc>
                  <a:txBody>
                    <a:bodyPr/>
                    <a:lstStyle/>
                    <a:p>
                      <a:pPr indent="0" marL="0">
                        <a:buNone/>
                      </a:pPr>
                      <a:r>
                        <a:rPr lang="en-US" sz="1400" dirty="0">
                          <a:solidFill>
                            <a:schemeClr val="tx1"/>
                          </a:solidFill>
                        </a:rPr>
                        <a:t>+1 point distribution (ACV)</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1B7F8C"/>
                          </a:solidFill>
                        </a:rPr>
                        <a:t>+3.7%</a:t>
                      </a:r>
                      <a:endParaRPr lang="en-US" sz="1400" dirty="0"/>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1"/>
          <p:cNvSpPr txBox="1"/>
          <p:nvPr/>
        </p:nvSpPr>
        <p:spPr>
          <a:xfrm>
            <a:off x="7955280" y="4937760"/>
            <a:ext cx="3685032" cy="1097280"/>
          </a:xfrm>
          <a:prstGeom prst="rect">
            <a:avLst/>
          </a:prstGeom>
          <a:noFill/>
          <a:ln/>
        </p:spPr>
        <p:txBody>
          <a:bodyPr wrap="square" lIns="0" tIns="0" rIns="0" bIns="0" rtlCol="0" anchor="t"/>
          <a:lstStyle/>
          <a:p>
            <a:pPr indent="0" marL="0">
              <a:buNone/>
            </a:pPr>
            <a:r>
              <a:rPr lang="en-US" sz="1200" dirty="0">
                <a:solidFill>
                  <a:srgbClr val="5B6B70"/>
                </a:solidFill>
              </a:rPr>
              <a:t>All effects highly significant (|t| &gt; 4). Base = sales in a cool, dry week without media, at that week's price and distribution.</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2800" b="1" dirty="0">
                <a:solidFill>
                  <a:schemeClr val="tx2"/>
                </a:solidFill>
              </a:rPr>
              <a:t>Online partnership returns £3.07 per £1; TV and online video returned under £0.30</a:t>
            </a:r>
            <a:endParaRPr lang="en-US" sz="2800" dirty="0"/>
          </a:p>
        </p:txBody>
      </p:sp>
      <p:graphicFrame>
        <p:nvGraphicFramePr>
          <p:cNvPr id="3" name="Chart 0" descr="Bar chart of revenue return per £1 of media: OOH £5.35, Online partnership £3.07, Online video £0.29, TV £0.27."/>
          <p:cNvGraphicFramePr/>
          <p:nvPr/>
        </p:nvGraphicFramePr>
        <p:xfrm>
          <a:off x="548640" y="1417320"/>
          <a:ext cx="539496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spend, ROI, 95% range and evidence by media channel" descr="Table: spend, ROI, 95% range and evidence by media channel"/>
          <p:cNvGraphicFramePr>
            <a:graphicFrameLocks noGrp="1"/>
          </p:cNvGraphicFramePr>
          <p:nvPr>
            <p:extLst>
              <p:ext uri="{D42A27DB-BD31-4B8C-83A1-F6EECF244321}">
                <p14:modId xmlns:p14="http://schemas.microsoft.com/office/powerpoint/2010/main" val="1579011935"/>
              </p:ext>
            </p:extLst>
          </p:nvPr>
        </p:nvGraphicFramePr>
        <p:xfrm>
          <a:off x="6309360" y="1554480"/>
          <a:ext cx="5330952" cy="914400"/>
        </p:xfrm>
        <a:graphic>
          <a:graphicData uri="http://schemas.openxmlformats.org/drawingml/2006/table">
            <a:tbl>
              <a:tblPr firstRow="1" bandRow="1"/>
              <a:tblGrid>
                <a:gridCol w="1737360"/>
                <a:gridCol w="868680"/>
                <a:gridCol w="777240"/>
                <a:gridCol w="1170432"/>
                <a:gridCol w="777240"/>
              </a:tblGrid>
              <a:tr h="457200">
                <a:tc>
                  <a:txBody>
                    <a:bodyPr/>
                    <a:lstStyle/>
                    <a:p>
                      <a:pPr algn="l" indent="0" marL="0">
                        <a:buNone/>
                      </a:pPr>
                      <a:r>
                        <a:rPr lang="en-US" sz="1300" b="1" dirty="0">
                          <a:solidFill>
                            <a:schemeClr val="bg1"/>
                          </a:solidFill>
                        </a:rPr>
                        <a:t>Channel</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300" b="1" dirty="0">
                          <a:solidFill>
                            <a:schemeClr val="bg1"/>
                          </a:solidFill>
                        </a:rPr>
                        <a:t>Spend</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300" b="1" dirty="0">
                          <a:solidFill>
                            <a:schemeClr val="bg1"/>
                          </a:solidFill>
                        </a:rPr>
                        <a:t>ROI</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300" b="1" dirty="0">
                          <a:solidFill>
                            <a:schemeClr val="bg1"/>
                          </a:solidFill>
                        </a:rPr>
                        <a:t>95% range</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300" b="1" dirty="0">
                          <a:solidFill>
                            <a:schemeClr val="bg1"/>
                          </a:solidFill>
                        </a:rPr>
                        <a:t>Evidence</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r>
              <a:tr h="457200">
                <a:tc>
                  <a:txBody>
                    <a:bodyPr/>
                    <a:lstStyle/>
                    <a:p>
                      <a:pPr indent="0" marL="0">
                        <a:buNone/>
                      </a:pPr>
                      <a:r>
                        <a:rPr lang="en-US" sz="1400" dirty="0">
                          <a:solidFill>
                            <a:schemeClr val="tx1"/>
                          </a:solidFill>
                        </a:rPr>
                        <a:t>OOH</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400" dirty="0">
                          <a:solidFill>
                            <a:schemeClr val="tx1"/>
                          </a:solidFill>
                        </a:rPr>
                        <a:t>£350k</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400" b="1" dirty="0">
                          <a:solidFill>
                            <a:schemeClr val="tx1"/>
                          </a:solidFill>
                        </a:rPr>
                        <a:t>£5.35</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400" dirty="0">
                          <a:solidFill>
                            <a:schemeClr val="tx1"/>
                          </a:solidFill>
                        </a:rPr>
                        <a:t>£0.00–£13.18</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400" dirty="0">
                          <a:solidFill>
                            <a:schemeClr val="tx1"/>
                          </a:solidFill>
                        </a:rPr>
                        <a:t>Medium</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457200">
                <a:tc>
                  <a:txBody>
                    <a:bodyPr/>
                    <a:lstStyle/>
                    <a:p>
                      <a:pPr indent="0" marL="0">
                        <a:buNone/>
                      </a:pPr>
                      <a:r>
                        <a:rPr lang="en-US" sz="1400" dirty="0">
                          <a:solidFill>
                            <a:schemeClr val="tx1"/>
                          </a:solidFill>
                        </a:rPr>
                        <a:t>Online partnership</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chemeClr val="tx1"/>
                          </a:solidFill>
                        </a:rPr>
                        <a:t>£575k</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chemeClr val="tx1"/>
                          </a:solidFill>
                        </a:rPr>
                        <a:t>£3.07</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chemeClr val="tx1"/>
                          </a:solidFill>
                        </a:rPr>
                        <a:t>£1.65–£4.52</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chemeClr val="tx1"/>
                          </a:solidFill>
                        </a:rPr>
                        <a:t>High</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400" dirty="0">
                          <a:solidFill>
                            <a:schemeClr val="tx1"/>
                          </a:solidFill>
                        </a:rPr>
                        <a:t>Online video</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400" dirty="0">
                          <a:solidFill>
                            <a:schemeClr val="tx1"/>
                          </a:solidFill>
                        </a:rPr>
                        <a:t>£1,250k</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400" b="1" dirty="0">
                          <a:solidFill>
                            <a:schemeClr val="tx1"/>
                          </a:solidFill>
                        </a:rPr>
                        <a:t>£0.29</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400" dirty="0">
                          <a:solidFill>
                            <a:schemeClr val="tx1"/>
                          </a:solidFill>
                        </a:rPr>
                        <a:t>£0.00–£5.42</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400" dirty="0">
                          <a:solidFill>
                            <a:schemeClr val="tx1"/>
                          </a:solidFill>
                        </a:rPr>
                        <a:t>Low</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457200">
                <a:tc>
                  <a:txBody>
                    <a:bodyPr/>
                    <a:lstStyle/>
                    <a:p>
                      <a:pPr indent="0" marL="0">
                        <a:buNone/>
                      </a:pPr>
                      <a:r>
                        <a:rPr lang="en-US" sz="1400" dirty="0">
                          <a:solidFill>
                            <a:schemeClr val="tx1"/>
                          </a:solidFill>
                        </a:rPr>
                        <a:t>TV</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chemeClr val="tx1"/>
                          </a:solidFill>
                        </a:rPr>
                        <a:t>£529k</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chemeClr val="tx1"/>
                          </a:solidFill>
                        </a:rPr>
                        <a:t>£0.27</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chemeClr val="tx1"/>
                          </a:solidFill>
                        </a:rPr>
                        <a:t>£0.00–£0.90</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chemeClr val="tx1"/>
                          </a:solidFill>
                        </a:rPr>
                        <a:t>Low</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1"/>
          <p:cNvSpPr txBox="1"/>
          <p:nvPr/>
        </p:nvSpPr>
        <p:spPr>
          <a:xfrm>
            <a:off x="6309360" y="4023360"/>
            <a:ext cx="5330952" cy="1188720"/>
          </a:xfrm>
          <a:prstGeom prst="rect">
            <a:avLst/>
          </a:prstGeom>
          <a:noFill/>
          <a:ln/>
        </p:spPr>
        <p:txBody>
          <a:bodyPr wrap="square" lIns="0" tIns="0" rIns="0" bIns="0" rtlCol="0" anchor="t"/>
          <a:lstStyle/>
          <a:p>
            <a:pPr indent="0" marL="0">
              <a:buNone/>
            </a:pPr>
            <a:r>
              <a:rPr lang="en-US" sz="1400" b="1" dirty="0">
                <a:solidFill>
                  <a:schemeClr val="tx1"/>
                </a:solidFill>
              </a:rPr>
              <a:t>Read the range, not just the bar. </a:t>
            </a:r>
            <a:pPr indent="0" marL="0">
              <a:buNone/>
            </a:pPr>
            <a:r>
              <a:rPr lang="en-US" sz="1400" dirty="0">
                <a:solidFill>
                  <a:schemeClr val="tx1"/>
                </a:solidFill>
              </a:rPr>
              <a:t>OOH looks best but rests on 5 weeks of activity, so its range starts at zero. Online partnership is the only channel that is both high and certain.</a:t>
            </a:r>
            <a:endParaRPr lang="en-US" sz="1400" dirty="0"/>
          </a:p>
        </p:txBody>
      </p:sp>
      <p:sp>
        <p:nvSpPr>
          <p:cNvPr id="6" name="Text 2"/>
          <p:cNvSpPr txBox="1"/>
          <p:nvPr/>
        </p:nvSpPr>
        <p:spPr>
          <a:xfrm>
            <a:off x="548640" y="5623560"/>
            <a:ext cx="11091672" cy="548640"/>
          </a:xfrm>
          <a:prstGeom prst="rect">
            <a:avLst/>
          </a:prstGeom>
          <a:noFill/>
          <a:ln/>
        </p:spPr>
        <p:txBody>
          <a:bodyPr wrap="square" lIns="0" tIns="0" rIns="0" bIns="0" rtlCol="0" anchor="ctr"/>
          <a:lstStyle/>
          <a:p>
            <a:pPr indent="0" marL="0">
              <a:buNone/>
            </a:pPr>
            <a:r>
              <a:rPr lang="en-US" sz="1200" dirty="0">
                <a:solidFill>
                  <a:srgbClr val="5B6B70"/>
                </a:solidFill>
              </a:rPr>
              <a:t>Not measurable: Social (£736k) showed no positive lift; Search (£19k) and RDM (£10k) are too small to estimate. ROI = incremental revenue ÷ spend (revenue, not profit: no margin data).</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2800" b="1" dirty="0">
                <a:solidFill>
                  <a:schemeClr val="tx2"/>
                </a:solidFill>
              </a:rPr>
              <a:t>Moving 30% of TV and video budget into Online partnership could add about £0.9M at the same spend</a:t>
            </a:r>
            <a:endParaRPr lang="en-US" sz="2800" dirty="0"/>
          </a:p>
        </p:txBody>
      </p:sp>
      <p:graphicFrame>
        <p:nvGraphicFramePr>
          <p:cNvPr id="3" name="Chart 0" descr="Response curves of incremental revenue against total spend: OOH and Online partnership rise steeply, Online video and TV stay almost flat."/>
          <p:cNvGraphicFramePr/>
          <p:nvPr/>
        </p:nvGraphicFramePr>
        <p:xfrm>
          <a:off x="548640" y="1417320"/>
          <a:ext cx="685800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what the next £1 returns by channel" descr="Table: what the next £1 returns by channel"/>
          <p:cNvGraphicFramePr>
            <a:graphicFrameLocks noGrp="1"/>
          </p:cNvGraphicFramePr>
          <p:nvPr>
            <p:extLst>
              <p:ext uri="{D42A27DB-BD31-4B8C-83A1-F6EECF244321}">
                <p14:modId xmlns:p14="http://schemas.microsoft.com/office/powerpoint/2010/main" val="1579011935"/>
              </p:ext>
            </p:extLst>
          </p:nvPr>
        </p:nvGraphicFramePr>
        <p:xfrm>
          <a:off x="7772400" y="1463040"/>
          <a:ext cx="3867912" cy="914400"/>
        </p:xfrm>
        <a:graphic>
          <a:graphicData uri="http://schemas.openxmlformats.org/drawingml/2006/table">
            <a:tbl>
              <a:tblPr firstRow="1" bandRow="1"/>
              <a:tblGrid>
                <a:gridCol w="1600200"/>
                <a:gridCol w="1216152"/>
                <a:gridCol w="1051560"/>
              </a:tblGrid>
              <a:tr h="411480">
                <a:tc>
                  <a:txBody>
                    <a:bodyPr/>
                    <a:lstStyle/>
                    <a:p>
                      <a:pPr algn="l" indent="0" marL="0">
                        <a:buNone/>
                      </a:pPr>
                      <a:r>
                        <a:rPr lang="en-US" sz="1300" b="1" dirty="0">
                          <a:solidFill>
                            <a:schemeClr val="bg1"/>
                          </a:solidFill>
                        </a:rPr>
                        <a:t>Channel</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300" b="1" dirty="0">
                          <a:solidFill>
                            <a:schemeClr val="bg1"/>
                          </a:solidFill>
                        </a:rPr>
                        <a:t>Next £1 returns</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300" b="1" dirty="0">
                          <a:solidFill>
                            <a:schemeClr val="bg1"/>
                          </a:solidFill>
                        </a:rPr>
                        <a:t>Spend now</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r>
              <a:tr h="411480">
                <a:tc>
                  <a:txBody>
                    <a:bodyPr/>
                    <a:lstStyle/>
                    <a:p>
                      <a:pPr indent="0" marL="0">
                        <a:buNone/>
                      </a:pPr>
                      <a:r>
                        <a:rPr lang="en-US" sz="1400" dirty="0">
                          <a:solidFill>
                            <a:schemeClr val="tx1"/>
                          </a:solidFill>
                        </a:rPr>
                        <a:t>OOH</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400" b="1" dirty="0">
                          <a:solidFill>
                            <a:srgbClr val="1B7F8C"/>
                          </a:solidFill>
                        </a:rPr>
                        <a:t>£2.95</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400" dirty="0">
                          <a:solidFill>
                            <a:srgbClr val="5B6B70"/>
                          </a:solidFill>
                        </a:rPr>
                        <a:t>£350k</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411480">
                <a:tc>
                  <a:txBody>
                    <a:bodyPr/>
                    <a:lstStyle/>
                    <a:p>
                      <a:pPr indent="0" marL="0">
                        <a:buNone/>
                      </a:pPr>
                      <a:r>
                        <a:rPr lang="en-US" sz="1400" dirty="0">
                          <a:solidFill>
                            <a:schemeClr val="tx1"/>
                          </a:solidFill>
                        </a:rPr>
                        <a:t>Online partnership</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1B7F8C"/>
                          </a:solidFill>
                        </a:rPr>
                        <a:t>£2.22</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5B6B70"/>
                          </a:solidFill>
                        </a:rPr>
                        <a:t>£575k</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400" dirty="0">
                          <a:solidFill>
                            <a:schemeClr val="tx1"/>
                          </a:solidFill>
                        </a:rPr>
                        <a:t>Online video</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400" b="1" dirty="0">
                          <a:solidFill>
                            <a:srgbClr val="E4572E"/>
                          </a:solidFill>
                        </a:rPr>
                        <a:t>£0.20</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400" dirty="0">
                          <a:solidFill>
                            <a:srgbClr val="5B6B70"/>
                          </a:solidFill>
                        </a:rPr>
                        <a:t>£1,250k</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411480">
                <a:tc>
                  <a:txBody>
                    <a:bodyPr/>
                    <a:lstStyle/>
                    <a:p>
                      <a:pPr indent="0" marL="0">
                        <a:buNone/>
                      </a:pPr>
                      <a:r>
                        <a:rPr lang="en-US" sz="1400" dirty="0">
                          <a:solidFill>
                            <a:schemeClr val="tx1"/>
                          </a:solidFill>
                        </a:rPr>
                        <a:t>TV</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E4572E"/>
                          </a:solidFill>
                        </a:rPr>
                        <a:t>£0.10</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5B6B70"/>
                          </a:solidFill>
                        </a:rPr>
                        <a:t>£529k</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cenario card">
            <a:extLst>
              <a:ext uri="{C183D7F6-B498-43B3-948B-1728B52AA6E4}">
                <adec:decorative xmlns:adec="http://schemas.microsoft.com/office/drawing/2017/decorative" val="1"/>
              </a:ext>
            </a:extLst>
          </p:cNvPr>
          <p:cNvSpPr/>
          <p:nvPr/>
        </p:nvSpPr>
        <p:spPr>
          <a:xfrm>
            <a:off x="7772400" y="3794760"/>
            <a:ext cx="3867912" cy="1325880"/>
          </a:xfrm>
          <a:prstGeom prst="roundRect">
            <a:avLst>
              <a:gd name="adj" fmla="val 8276"/>
            </a:avLst>
          </a:prstGeom>
          <a:solidFill>
            <a:schemeClr val="tx2"/>
          </a:solidFill>
          <a:ln/>
        </p:spPr>
      </p:sp>
      <p:sp>
        <p:nvSpPr>
          <p:cNvPr id="6" name="Text 2"/>
          <p:cNvSpPr txBox="1"/>
          <p:nvPr/>
        </p:nvSpPr>
        <p:spPr>
          <a:xfrm>
            <a:off x="8001000" y="3886200"/>
            <a:ext cx="3474720" cy="1143000"/>
          </a:xfrm>
          <a:prstGeom prst="rect">
            <a:avLst/>
          </a:prstGeom>
          <a:noFill/>
          <a:ln/>
        </p:spPr>
        <p:txBody>
          <a:bodyPr wrap="square" lIns="0" tIns="0" rIns="0" bIns="0" rtlCol="0" anchor="ctr"/>
          <a:lstStyle/>
          <a:p>
            <a:pPr indent="0" marL="0">
              <a:buNone/>
            </a:pPr>
            <a:r>
              <a:rPr lang="en-US" sz="2400" b="1" dirty="0">
                <a:solidFill>
                  <a:schemeClr val="accent2"/>
                </a:solidFill>
              </a:rPr>
              <a:t>+£0.9M revenue</a:t>
            </a:r>
            <a:endParaRPr lang="en-US" sz="2400" dirty="0"/>
          </a:p>
          <a:p>
            <a:pPr indent="0" marL="0">
              <a:buNone/>
            </a:pPr>
            <a:r>
              <a:rPr lang="en-US" sz="1400" dirty="0">
                <a:solidFill>
                  <a:schemeClr val="bg1"/>
                </a:solidFill>
              </a:rPr>
              <a:t>Shift £534k from TV and online video into Online partnership, same total budget</a:t>
            </a:r>
            <a:endParaRPr lang="en-US" sz="2400" dirty="0"/>
          </a:p>
        </p:txBody>
      </p:sp>
      <p:sp>
        <p:nvSpPr>
          <p:cNvPr id="7" name="Text 3"/>
          <p:cNvSpPr txBox="1"/>
          <p:nvPr/>
        </p:nvSpPr>
        <p:spPr>
          <a:xfrm>
            <a:off x="7772400" y="5257800"/>
            <a:ext cx="3867912" cy="914400"/>
          </a:xfrm>
          <a:prstGeom prst="rect">
            <a:avLst/>
          </a:prstGeom>
          <a:noFill/>
          <a:ln/>
        </p:spPr>
        <p:txBody>
          <a:bodyPr wrap="square" lIns="0" tIns="0" rIns="0" bIns="0" rtlCol="0" anchor="t"/>
          <a:lstStyle/>
          <a:p>
            <a:pPr indent="0" marL="0">
              <a:buNone/>
            </a:pPr>
            <a:r>
              <a:rPr lang="en-US" sz="1400" dirty="0">
                <a:solidFill>
                  <a:schemeClr val="tx1"/>
                </a:solidFill>
              </a:rPr>
              <a:t>TV spent £176k a week for 3 weeks, well past saturation: if kept, spread it over more weeks. Test OOH before scaling it.</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2800" b="1" dirty="0">
                <a:solidFill>
                  <a:schemeClr val="tx2"/>
                </a:solidFill>
              </a:rPr>
              <a:t>A wider price gap cost volume in 2023; distribution gains won it back in 2024; deep promotions mostly subsidise sales</a:t>
            </a:r>
            <a:endParaRPr lang="en-US" sz="2800" dirty="0"/>
          </a:p>
        </p:txBody>
      </p:sp>
      <p:graphicFrame>
        <p:nvGraphicFramePr>
          <p:cNvPr id="3" name="Chart 0" descr="Bar chart of volume change by driver. 2022 to 2023: relative price -8.1 points, distribution +2.5. 2023 to 2024: distribution +12.8, relative price -3.5."/>
          <p:cNvGraphicFramePr/>
          <p:nvPr/>
        </p:nvGraphicFramePr>
        <p:xfrm>
          <a:off x="548640" y="1417320"/>
          <a:ext cx="6035040" cy="4754880"/>
        </p:xfrm>
        <a:graphic xmlns:a="http://schemas.openxmlformats.org/drawingml/2006/main">
          <a:graphicData uri="http://schemas.openxmlformats.org/drawingml/2006/chart">
            <c:chart xmlns:c="http://schemas.openxmlformats.org/drawingml/2006/chart" r:id="rId1"/>
          </a:graphicData>
        </a:graphic>
      </p:graphicFrame>
      <p:sp>
        <p:nvSpPr>
          <p:cNvPr id="4" name="Price card">
            <a:extLst>
              <a:ext uri="{C183D7F6-B498-43B3-948B-1728B52AA6E4}">
                <adec:decorative xmlns:adec="http://schemas.microsoft.com/office/drawing/2017/decorative" val="1"/>
              </a:ext>
            </a:extLst>
          </p:cNvPr>
          <p:cNvSpPr/>
          <p:nvPr/>
        </p:nvSpPr>
        <p:spPr>
          <a:xfrm>
            <a:off x="6949440" y="1463040"/>
            <a:ext cx="4690872" cy="1463040"/>
          </a:xfrm>
          <a:prstGeom prst="roundRect">
            <a:avLst>
              <a:gd name="adj" fmla="val 7500"/>
            </a:avLst>
          </a:prstGeom>
          <a:solidFill>
            <a:schemeClr val="bg2"/>
          </a:solidFill>
          <a:ln/>
        </p:spPr>
      </p:sp>
      <p:sp>
        <p:nvSpPr>
          <p:cNvPr id="5" name="Text 2"/>
          <p:cNvSpPr txBox="1"/>
          <p:nvPr/>
        </p:nvSpPr>
        <p:spPr>
          <a:xfrm>
            <a:off x="7178040" y="1572768"/>
            <a:ext cx="4297680" cy="1261872"/>
          </a:xfrm>
          <a:prstGeom prst="rect">
            <a:avLst/>
          </a:prstGeom>
          <a:noFill/>
          <a:ln/>
        </p:spPr>
        <p:txBody>
          <a:bodyPr wrap="square" lIns="0" tIns="0" rIns="0" bIns="0" rtlCol="0" anchor="t"/>
          <a:lstStyle/>
          <a:p>
            <a:pPr indent="0" marL="0">
              <a:buNone/>
            </a:pPr>
            <a:r>
              <a:rPr lang="en-US" sz="1600" b="1" dirty="0">
                <a:solidFill>
                  <a:schemeClr val="tx2"/>
                </a:solidFill>
              </a:rPr>
              <a:t>Price</a:t>
            </a:r>
            <a:endParaRPr lang="en-US" sz="1600" dirty="0"/>
          </a:p>
          <a:p>
            <a:pPr indent="0" marL="0">
              <a:buNone/>
            </a:pPr>
            <a:r>
              <a:rPr lang="en-US" sz="1400" dirty="0">
                <a:solidFill>
                  <a:schemeClr val="tx1"/>
                </a:solidFill>
              </a:rPr>
              <a:t>Our base price premium over competitors grew from +46% (2022) to +89% (2024). Elasticity −0.46: the 2023 rise cost about 8% volume.</a:t>
            </a:r>
            <a:endParaRPr lang="en-US" sz="1600" dirty="0"/>
          </a:p>
        </p:txBody>
      </p:sp>
      <p:sp>
        <p:nvSpPr>
          <p:cNvPr id="6" name="Distribution card">
            <a:extLst>
              <a:ext uri="{C183D7F6-B498-43B3-948B-1728B52AA6E4}">
                <adec:decorative xmlns:adec="http://schemas.microsoft.com/office/drawing/2017/decorative" val="1"/>
              </a:ext>
            </a:extLst>
          </p:cNvPr>
          <p:cNvSpPr/>
          <p:nvPr/>
        </p:nvSpPr>
        <p:spPr>
          <a:xfrm>
            <a:off x="6949440" y="3063240"/>
            <a:ext cx="4690872" cy="1463040"/>
          </a:xfrm>
          <a:prstGeom prst="roundRect">
            <a:avLst>
              <a:gd name="adj" fmla="val 7500"/>
            </a:avLst>
          </a:prstGeom>
          <a:solidFill>
            <a:schemeClr val="bg2"/>
          </a:solidFill>
          <a:ln/>
        </p:spPr>
      </p:sp>
      <p:sp>
        <p:nvSpPr>
          <p:cNvPr id="7" name="Text 4"/>
          <p:cNvSpPr txBox="1"/>
          <p:nvPr/>
        </p:nvSpPr>
        <p:spPr>
          <a:xfrm>
            <a:off x="7178040" y="3172968"/>
            <a:ext cx="4297680" cy="1261872"/>
          </a:xfrm>
          <a:prstGeom prst="rect">
            <a:avLst/>
          </a:prstGeom>
          <a:noFill/>
          <a:ln/>
        </p:spPr>
        <p:txBody>
          <a:bodyPr wrap="square" lIns="0" tIns="0" rIns="0" bIns="0" rtlCol="0" anchor="t"/>
          <a:lstStyle/>
          <a:p>
            <a:pPr indent="0" marL="0">
              <a:buNone/>
            </a:pPr>
            <a:r>
              <a:rPr lang="en-US" sz="1600" b="1" dirty="0">
                <a:solidFill>
                  <a:schemeClr val="tx2"/>
                </a:solidFill>
              </a:rPr>
              <a:t>Distribution</a:t>
            </a:r>
            <a:endParaRPr lang="en-US" sz="1600" dirty="0"/>
          </a:p>
          <a:p>
            <a:pPr indent="0" marL="0">
              <a:buNone/>
            </a:pPr>
            <a:r>
              <a:rPr lang="en-US" sz="1400" dirty="0">
                <a:solidFill>
                  <a:schemeClr val="tx1"/>
                </a:solidFill>
              </a:rPr>
              <a:t>ACV rose from 39.9 to 43.5 in 2024, worth about +13% volume. We still reach under half of the market.</a:t>
            </a:r>
            <a:endParaRPr lang="en-US" sz="1600" dirty="0"/>
          </a:p>
        </p:txBody>
      </p:sp>
      <p:sp>
        <p:nvSpPr>
          <p:cNvPr id="8" name="Promotions card">
            <a:extLst>
              <a:ext uri="{C183D7F6-B498-43B3-948B-1728B52AA6E4}">
                <adec:decorative xmlns:adec="http://schemas.microsoft.com/office/drawing/2017/decorative" val="1"/>
              </a:ext>
            </a:extLst>
          </p:cNvPr>
          <p:cNvSpPr/>
          <p:nvPr/>
        </p:nvSpPr>
        <p:spPr>
          <a:xfrm>
            <a:off x="6949440" y="4663440"/>
            <a:ext cx="4690872" cy="1463040"/>
          </a:xfrm>
          <a:prstGeom prst="roundRect">
            <a:avLst>
              <a:gd name="adj" fmla="val 7500"/>
            </a:avLst>
          </a:prstGeom>
          <a:solidFill>
            <a:schemeClr val="bg2"/>
          </a:solidFill>
          <a:ln/>
        </p:spPr>
      </p:sp>
      <p:sp>
        <p:nvSpPr>
          <p:cNvPr id="9" name="Text 6"/>
          <p:cNvSpPr txBox="1"/>
          <p:nvPr/>
        </p:nvSpPr>
        <p:spPr>
          <a:xfrm>
            <a:off x="7178040" y="4773168"/>
            <a:ext cx="4297680" cy="1261872"/>
          </a:xfrm>
          <a:prstGeom prst="rect">
            <a:avLst/>
          </a:prstGeom>
          <a:noFill/>
          <a:ln/>
        </p:spPr>
        <p:txBody>
          <a:bodyPr wrap="square" lIns="0" tIns="0" rIns="0" bIns="0" rtlCol="0" anchor="t"/>
          <a:lstStyle/>
          <a:p>
            <a:pPr indent="0" marL="0">
              <a:buNone/>
            </a:pPr>
            <a:r>
              <a:rPr lang="en-US" sz="1600" b="1" dirty="0">
                <a:solidFill>
                  <a:schemeClr val="tx2"/>
                </a:solidFill>
              </a:rPr>
              <a:t>Promotions</a:t>
            </a:r>
            <a:endParaRPr lang="en-US" sz="1600" dirty="0"/>
          </a:p>
          <a:p>
            <a:pPr indent="0" marL="0">
              <a:buNone/>
            </a:pPr>
            <a:r>
              <a:rPr lang="en-US" sz="1400" dirty="0">
                <a:solidFill>
                  <a:schemeClr val="tx1"/>
                </a:solidFill>
              </a:rPr>
              <a:t>Promoted share of volume went from 15% to 34%. Promotions lift sales by widening store reach, not through discount depth; an estimated ~28% of promoted volume is extra.</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2800" b="1" dirty="0">
                <a:solidFill>
                  <a:schemeClr val="tx2"/>
                </a:solidFill>
              </a:rPr>
              <a:t>A simple, transparent regression that forecasts unseen weeks within 4%, with clear limits</a:t>
            </a:r>
            <a:endParaRPr lang="en-US" sz="2800" dirty="0"/>
          </a:p>
        </p:txBody>
      </p:sp>
      <p:sp>
        <p:nvSpPr>
          <p:cNvPr id="3" name="step 1">
            <a:extLst>
              <a:ext uri="{C183D7F6-B498-43B3-948B-1728B52AA6E4}">
                <adec:decorative xmlns:adec="http://schemas.microsoft.com/office/drawing/2017/decorative" val="1"/>
              </a:ext>
            </a:extLst>
          </p:cNvPr>
          <p:cNvSpPr/>
          <p:nvPr/>
        </p:nvSpPr>
        <p:spPr>
          <a:xfrm>
            <a:off x="548640" y="1463040"/>
            <a:ext cx="2587752" cy="1783080"/>
          </a:xfrm>
          <a:prstGeom prst="roundRect">
            <a:avLst>
              <a:gd name="adj" fmla="val 6154"/>
            </a:avLst>
          </a:prstGeom>
          <a:solidFill>
            <a:schemeClr val="bg2"/>
          </a:solidFill>
          <a:ln/>
        </p:spPr>
      </p:sp>
      <p:sp>
        <p:nvSpPr>
          <p:cNvPr id="4" name="dot 1">
            <a:extLst>
              <a:ext uri="{C183D7F6-B498-43B3-948B-1728B52AA6E4}">
                <adec:decorative xmlns:adec="http://schemas.microsoft.com/office/drawing/2017/decorative" val="1"/>
              </a:ext>
            </a:extLst>
          </p:cNvPr>
          <p:cNvSpPr/>
          <p:nvPr/>
        </p:nvSpPr>
        <p:spPr>
          <a:xfrm>
            <a:off x="731520" y="1600200"/>
            <a:ext cx="502920" cy="502920"/>
          </a:xfrm>
          <a:prstGeom prst="ellipse">
            <a:avLst/>
          </a:prstGeom>
          <a:solidFill>
            <a:schemeClr val="accent1"/>
          </a:solidFill>
          <a:ln/>
        </p:spPr>
      </p:sp>
      <p:sp>
        <p:nvSpPr>
          <p:cNvPr id="5" name="Text 3"/>
          <p:cNvSpPr txBox="1"/>
          <p:nvPr/>
        </p:nvSpPr>
        <p:spPr>
          <a:xfrm>
            <a:off x="731520"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600200"/>
            <a:ext cx="1673352" cy="502920"/>
          </a:xfrm>
          <a:prstGeom prst="rect">
            <a:avLst/>
          </a:prstGeom>
          <a:noFill/>
          <a:ln/>
        </p:spPr>
        <p:txBody>
          <a:bodyPr wrap="square" lIns="0" tIns="0" rIns="0" bIns="0" rtlCol="0" anchor="ctr"/>
          <a:lstStyle/>
          <a:p>
            <a:pPr indent="0" marL="0">
              <a:buNone/>
            </a:pPr>
            <a:r>
              <a:rPr lang="en-US" sz="1600" b="1" dirty="0">
                <a:solidFill>
                  <a:schemeClr val="tx2"/>
                </a:solidFill>
              </a:rPr>
              <a:t>Clean and explore</a:t>
            </a:r>
            <a:endParaRPr lang="en-US" sz="1600" dirty="0"/>
          </a:p>
        </p:txBody>
      </p:sp>
      <p:sp>
        <p:nvSpPr>
          <p:cNvPr id="7" name="Text 5"/>
          <p:cNvSpPr txBox="1"/>
          <p:nvPr/>
        </p:nvSpPr>
        <p:spPr>
          <a:xfrm>
            <a:off x="731520" y="2240280"/>
            <a:ext cx="2221992" cy="914400"/>
          </a:xfrm>
          <a:prstGeom prst="rect">
            <a:avLst/>
          </a:prstGeom>
          <a:noFill/>
          <a:ln/>
        </p:spPr>
        <p:txBody>
          <a:bodyPr wrap="square" lIns="0" tIns="0" rIns="0" bIns="0" rtlCol="0" anchor="t"/>
          <a:lstStyle/>
          <a:p>
            <a:pPr indent="0" marL="0">
              <a:buNone/>
            </a:pPr>
            <a:r>
              <a:rPr lang="en-US" sz="1400" dirty="0">
                <a:solidFill>
                  <a:schemeClr val="tx1"/>
                </a:solidFill>
              </a:rPr>
              <a:t>Dates, gaps, definitions; 18 charts; traps found (e.g. store counts follow demand)</a:t>
            </a:r>
            <a:endParaRPr lang="en-US" sz="1400" dirty="0"/>
          </a:p>
        </p:txBody>
      </p:sp>
      <p:sp>
        <p:nvSpPr>
          <p:cNvPr id="8" name="step 2">
            <a:extLst>
              <a:ext uri="{C183D7F6-B498-43B3-948B-1728B52AA6E4}">
                <adec:decorative xmlns:adec="http://schemas.microsoft.com/office/drawing/2017/decorative" val="1"/>
              </a:ext>
            </a:extLst>
          </p:cNvPr>
          <p:cNvSpPr/>
          <p:nvPr/>
        </p:nvSpPr>
        <p:spPr>
          <a:xfrm>
            <a:off x="3383280" y="1463040"/>
            <a:ext cx="2587752" cy="1783080"/>
          </a:xfrm>
          <a:prstGeom prst="roundRect">
            <a:avLst>
              <a:gd name="adj" fmla="val 6154"/>
            </a:avLst>
          </a:prstGeom>
          <a:solidFill>
            <a:schemeClr val="bg2"/>
          </a:solidFill>
          <a:ln/>
        </p:spPr>
      </p:sp>
      <p:sp>
        <p:nvSpPr>
          <p:cNvPr id="9" name="dot 2">
            <a:extLst>
              <a:ext uri="{C183D7F6-B498-43B3-948B-1728B52AA6E4}">
                <adec:decorative xmlns:adec="http://schemas.microsoft.com/office/drawing/2017/decorative" val="1"/>
              </a:ext>
            </a:extLst>
          </p:cNvPr>
          <p:cNvSpPr/>
          <p:nvPr/>
        </p:nvSpPr>
        <p:spPr>
          <a:xfrm>
            <a:off x="3566160" y="1600200"/>
            <a:ext cx="502920" cy="502920"/>
          </a:xfrm>
          <a:prstGeom prst="ellipse">
            <a:avLst/>
          </a:prstGeom>
          <a:solidFill>
            <a:schemeClr val="accent1"/>
          </a:solidFill>
          <a:ln/>
        </p:spPr>
      </p:sp>
      <p:sp>
        <p:nvSpPr>
          <p:cNvPr id="10" name="Text 8"/>
          <p:cNvSpPr txBox="1"/>
          <p:nvPr/>
        </p:nvSpPr>
        <p:spPr>
          <a:xfrm>
            <a:off x="3566160"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4206240" y="1600200"/>
            <a:ext cx="1673352" cy="502920"/>
          </a:xfrm>
          <a:prstGeom prst="rect">
            <a:avLst/>
          </a:prstGeom>
          <a:noFill/>
          <a:ln/>
        </p:spPr>
        <p:txBody>
          <a:bodyPr wrap="square" lIns="0" tIns="0" rIns="0" bIns="0" rtlCol="0" anchor="ctr"/>
          <a:lstStyle/>
          <a:p>
            <a:pPr indent="0" marL="0">
              <a:buNone/>
            </a:pPr>
            <a:r>
              <a:rPr lang="en-US" sz="1600" b="1" dirty="0">
                <a:solidFill>
                  <a:schemeClr val="tx2"/>
                </a:solidFill>
              </a:rPr>
              <a:t>Transform media</a:t>
            </a:r>
            <a:endParaRPr lang="en-US" sz="1600" dirty="0"/>
          </a:p>
        </p:txBody>
      </p:sp>
      <p:sp>
        <p:nvSpPr>
          <p:cNvPr id="12" name="Text 10"/>
          <p:cNvSpPr txBox="1"/>
          <p:nvPr/>
        </p:nvSpPr>
        <p:spPr>
          <a:xfrm>
            <a:off x="3566160" y="2240280"/>
            <a:ext cx="2221992" cy="914400"/>
          </a:xfrm>
          <a:prstGeom prst="rect">
            <a:avLst/>
          </a:prstGeom>
          <a:noFill/>
          <a:ln/>
        </p:spPr>
        <p:txBody>
          <a:bodyPr wrap="square" lIns="0" tIns="0" rIns="0" bIns="0" rtlCol="0" anchor="t"/>
          <a:lstStyle/>
          <a:p>
            <a:pPr indent="0" marL="0">
              <a:buNone/>
            </a:pPr>
            <a:r>
              <a:rPr lang="en-US" sz="1400" dirty="0">
                <a:solidFill>
                  <a:schemeClr val="tx1"/>
                </a:solidFill>
              </a:rPr>
              <a:t>Carryover (adstock) and diminishing returns (saturation) per channel</a:t>
            </a:r>
            <a:endParaRPr lang="en-US" sz="1400" dirty="0"/>
          </a:p>
        </p:txBody>
      </p:sp>
      <p:sp>
        <p:nvSpPr>
          <p:cNvPr id="13" name="step 3">
            <a:extLst>
              <a:ext uri="{C183D7F6-B498-43B3-948B-1728B52AA6E4}">
                <adec:decorative xmlns:adec="http://schemas.microsoft.com/office/drawing/2017/decorative" val="1"/>
              </a:ext>
            </a:extLst>
          </p:cNvPr>
          <p:cNvSpPr/>
          <p:nvPr/>
        </p:nvSpPr>
        <p:spPr>
          <a:xfrm>
            <a:off x="6217920" y="1463040"/>
            <a:ext cx="2587752" cy="1783080"/>
          </a:xfrm>
          <a:prstGeom prst="roundRect">
            <a:avLst>
              <a:gd name="adj" fmla="val 6154"/>
            </a:avLst>
          </a:prstGeom>
          <a:solidFill>
            <a:schemeClr val="bg2"/>
          </a:solidFill>
          <a:ln/>
        </p:spPr>
      </p:sp>
      <p:sp>
        <p:nvSpPr>
          <p:cNvPr id="14" name="dot 3">
            <a:extLst>
              <a:ext uri="{C183D7F6-B498-43B3-948B-1728B52AA6E4}">
                <adec:decorative xmlns:adec="http://schemas.microsoft.com/office/drawing/2017/decorative" val="1"/>
              </a:ext>
            </a:extLst>
          </p:cNvPr>
          <p:cNvSpPr/>
          <p:nvPr/>
        </p:nvSpPr>
        <p:spPr>
          <a:xfrm>
            <a:off x="6400800" y="1600200"/>
            <a:ext cx="502920" cy="502920"/>
          </a:xfrm>
          <a:prstGeom prst="ellipse">
            <a:avLst/>
          </a:prstGeom>
          <a:solidFill>
            <a:schemeClr val="accent1"/>
          </a:solidFill>
          <a:ln/>
        </p:spPr>
      </p:sp>
      <p:sp>
        <p:nvSpPr>
          <p:cNvPr id="15" name="Text 13"/>
          <p:cNvSpPr txBox="1"/>
          <p:nvPr/>
        </p:nvSpPr>
        <p:spPr>
          <a:xfrm>
            <a:off x="6400800"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7040880" y="1600200"/>
            <a:ext cx="1673352" cy="502920"/>
          </a:xfrm>
          <a:prstGeom prst="rect">
            <a:avLst/>
          </a:prstGeom>
          <a:noFill/>
          <a:ln/>
        </p:spPr>
        <p:txBody>
          <a:bodyPr wrap="square" lIns="0" tIns="0" rIns="0" bIns="0" rtlCol="0" anchor="ctr"/>
          <a:lstStyle/>
          <a:p>
            <a:pPr indent="0" marL="0">
              <a:buNone/>
            </a:pPr>
            <a:r>
              <a:rPr lang="en-US" sz="1600" b="1" dirty="0">
                <a:solidFill>
                  <a:schemeClr val="tx2"/>
                </a:solidFill>
              </a:rPr>
              <a:t>Regress</a:t>
            </a:r>
            <a:endParaRPr lang="en-US" sz="1600" dirty="0"/>
          </a:p>
        </p:txBody>
      </p:sp>
      <p:sp>
        <p:nvSpPr>
          <p:cNvPr id="17" name="Text 15"/>
          <p:cNvSpPr txBox="1"/>
          <p:nvPr/>
        </p:nvSpPr>
        <p:spPr>
          <a:xfrm>
            <a:off x="6400800" y="2240280"/>
            <a:ext cx="2221992" cy="914400"/>
          </a:xfrm>
          <a:prstGeom prst="rect">
            <a:avLst/>
          </a:prstGeom>
          <a:noFill/>
          <a:ln/>
        </p:spPr>
        <p:txBody>
          <a:bodyPr wrap="square" lIns="0" tIns="0" rIns="0" bIns="0" rtlCol="0" anchor="t"/>
          <a:lstStyle/>
          <a:p>
            <a:pPr indent="0" marL="0">
              <a:buNone/>
            </a:pPr>
            <a:r>
              <a:rPr lang="en-US" sz="1400" dirty="0">
                <a:solidFill>
                  <a:schemeClr val="tx1"/>
                </a:solidFill>
              </a:rPr>
              <a:t>Log of weekly volume on 10 drivers, robust (Newey-West) errors</a:t>
            </a:r>
            <a:endParaRPr lang="en-US" sz="1400" dirty="0"/>
          </a:p>
        </p:txBody>
      </p:sp>
      <p:sp>
        <p:nvSpPr>
          <p:cNvPr id="18" name="step 4">
            <a:extLst>
              <a:ext uri="{C183D7F6-B498-43B3-948B-1728B52AA6E4}">
                <adec:decorative xmlns:adec="http://schemas.microsoft.com/office/drawing/2017/decorative" val="1"/>
              </a:ext>
            </a:extLst>
          </p:cNvPr>
          <p:cNvSpPr/>
          <p:nvPr/>
        </p:nvSpPr>
        <p:spPr>
          <a:xfrm>
            <a:off x="9052560" y="1463040"/>
            <a:ext cx="2587752" cy="1783080"/>
          </a:xfrm>
          <a:prstGeom prst="roundRect">
            <a:avLst>
              <a:gd name="adj" fmla="val 6154"/>
            </a:avLst>
          </a:prstGeom>
          <a:solidFill>
            <a:schemeClr val="bg2"/>
          </a:solidFill>
          <a:ln/>
        </p:spPr>
      </p:sp>
      <p:sp>
        <p:nvSpPr>
          <p:cNvPr id="19" name="dot 4">
            <a:extLst>
              <a:ext uri="{C183D7F6-B498-43B3-948B-1728B52AA6E4}">
                <adec:decorative xmlns:adec="http://schemas.microsoft.com/office/drawing/2017/decorative" val="1"/>
              </a:ext>
            </a:extLst>
          </p:cNvPr>
          <p:cNvSpPr/>
          <p:nvPr/>
        </p:nvSpPr>
        <p:spPr>
          <a:xfrm>
            <a:off x="9235440" y="1600200"/>
            <a:ext cx="502920" cy="502920"/>
          </a:xfrm>
          <a:prstGeom prst="ellipse">
            <a:avLst/>
          </a:prstGeom>
          <a:solidFill>
            <a:schemeClr val="accent1"/>
          </a:solidFill>
          <a:ln/>
        </p:spPr>
      </p:sp>
      <p:sp>
        <p:nvSpPr>
          <p:cNvPr id="20" name="Text 18"/>
          <p:cNvSpPr txBox="1"/>
          <p:nvPr/>
        </p:nvSpPr>
        <p:spPr>
          <a:xfrm>
            <a:off x="9235440"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9875520" y="1600200"/>
            <a:ext cx="1673352" cy="502920"/>
          </a:xfrm>
          <a:prstGeom prst="rect">
            <a:avLst/>
          </a:prstGeom>
          <a:noFill/>
          <a:ln/>
        </p:spPr>
        <p:txBody>
          <a:bodyPr wrap="square" lIns="0" tIns="0" rIns="0" bIns="0" rtlCol="0" anchor="ctr"/>
          <a:lstStyle/>
          <a:p>
            <a:pPr indent="0" marL="0">
              <a:buNone/>
            </a:pPr>
            <a:r>
              <a:rPr lang="en-US" sz="1600" b="1" dirty="0">
                <a:solidFill>
                  <a:schemeClr val="tx2"/>
                </a:solidFill>
              </a:rPr>
              <a:t>Validate</a:t>
            </a:r>
            <a:endParaRPr lang="en-US" sz="1600" dirty="0"/>
          </a:p>
        </p:txBody>
      </p:sp>
      <p:sp>
        <p:nvSpPr>
          <p:cNvPr id="22" name="Text 20"/>
          <p:cNvSpPr txBox="1"/>
          <p:nvPr/>
        </p:nvSpPr>
        <p:spPr>
          <a:xfrm>
            <a:off x="9235440" y="2240280"/>
            <a:ext cx="2221992" cy="914400"/>
          </a:xfrm>
          <a:prstGeom prst="rect">
            <a:avLst/>
          </a:prstGeom>
          <a:noFill/>
          <a:ln/>
        </p:spPr>
        <p:txBody>
          <a:bodyPr wrap="square" lIns="0" tIns="0" rIns="0" bIns="0" rtlCol="0" anchor="t"/>
          <a:lstStyle/>
          <a:p>
            <a:pPr indent="0" marL="0">
              <a:buNone/>
            </a:pPr>
            <a:r>
              <a:rPr lang="en-US" sz="1400" dirty="0">
                <a:solidFill>
                  <a:schemeClr val="tx1"/>
                </a:solidFill>
              </a:rPr>
              <a:t>12-week holdout, residuals, multicollinearity, leave-one-year-out</a:t>
            </a:r>
            <a:endParaRPr lang="en-US" sz="1400" dirty="0"/>
          </a:p>
        </p:txBody>
      </p:sp>
      <p:sp>
        <p:nvSpPr>
          <p:cNvPr id="23" name="Text 21"/>
          <p:cNvSpPr txBox="1"/>
          <p:nvPr/>
        </p:nvSpPr>
        <p:spPr>
          <a:xfrm>
            <a:off x="548640" y="3520440"/>
            <a:ext cx="1463040" cy="640080"/>
          </a:xfrm>
          <a:prstGeom prst="rect">
            <a:avLst/>
          </a:prstGeom>
          <a:noFill/>
          <a:ln/>
        </p:spPr>
        <p:txBody>
          <a:bodyPr wrap="square" lIns="0" tIns="0" rIns="0" bIns="0" rtlCol="0" anchor="ctr"/>
          <a:lstStyle/>
          <a:p>
            <a:pPr indent="0" marL="0">
              <a:buNone/>
            </a:pPr>
            <a:r>
              <a:rPr lang="en-US" sz="3200" b="1" dirty="0">
                <a:solidFill>
                  <a:schemeClr val="accent1"/>
                </a:solidFill>
              </a:rPr>
              <a:t>0.91</a:t>
            </a:r>
            <a:endParaRPr lang="en-US" sz="3200" dirty="0"/>
          </a:p>
        </p:txBody>
      </p:sp>
      <p:sp>
        <p:nvSpPr>
          <p:cNvPr id="24" name="Text 22"/>
          <p:cNvSpPr txBox="1"/>
          <p:nvPr/>
        </p:nvSpPr>
        <p:spPr>
          <a:xfrm>
            <a:off x="2103120" y="3520440"/>
            <a:ext cx="3566160" cy="640080"/>
          </a:xfrm>
          <a:prstGeom prst="rect">
            <a:avLst/>
          </a:prstGeom>
          <a:noFill/>
          <a:ln/>
        </p:spPr>
        <p:txBody>
          <a:bodyPr wrap="square" lIns="0" tIns="0" rIns="0" bIns="0" rtlCol="0" anchor="ctr"/>
          <a:lstStyle/>
          <a:p>
            <a:pPr indent="0" marL="0">
              <a:buNone/>
            </a:pPr>
            <a:r>
              <a:rPr lang="en-US" sz="1400" dirty="0">
                <a:solidFill>
                  <a:schemeClr val="tx1"/>
                </a:solidFill>
              </a:rPr>
              <a:t>adjusted R²: share of weekly variation explained</a:t>
            </a:r>
            <a:endParaRPr lang="en-US" sz="1400" dirty="0"/>
          </a:p>
        </p:txBody>
      </p:sp>
      <p:sp>
        <p:nvSpPr>
          <p:cNvPr id="25" name="Text 23"/>
          <p:cNvSpPr txBox="1"/>
          <p:nvPr/>
        </p:nvSpPr>
        <p:spPr>
          <a:xfrm>
            <a:off x="548640" y="4206240"/>
            <a:ext cx="1463040" cy="640080"/>
          </a:xfrm>
          <a:prstGeom prst="rect">
            <a:avLst/>
          </a:prstGeom>
          <a:noFill/>
          <a:ln/>
        </p:spPr>
        <p:txBody>
          <a:bodyPr wrap="square" lIns="0" tIns="0" rIns="0" bIns="0" rtlCol="0" anchor="ctr"/>
          <a:lstStyle/>
          <a:p>
            <a:pPr indent="0" marL="0">
              <a:buNone/>
            </a:pPr>
            <a:r>
              <a:rPr lang="en-US" sz="3200" b="1" dirty="0">
                <a:solidFill>
                  <a:schemeClr val="accent1"/>
                </a:solidFill>
              </a:rPr>
              <a:t>4.5%</a:t>
            </a:r>
            <a:endParaRPr lang="en-US" sz="3200" dirty="0"/>
          </a:p>
        </p:txBody>
      </p:sp>
      <p:sp>
        <p:nvSpPr>
          <p:cNvPr id="26" name="Text 24"/>
          <p:cNvSpPr txBox="1"/>
          <p:nvPr/>
        </p:nvSpPr>
        <p:spPr>
          <a:xfrm>
            <a:off x="2103120" y="4206240"/>
            <a:ext cx="3566160" cy="640080"/>
          </a:xfrm>
          <a:prstGeom prst="rect">
            <a:avLst/>
          </a:prstGeom>
          <a:noFill/>
          <a:ln/>
        </p:spPr>
        <p:txBody>
          <a:bodyPr wrap="square" lIns="0" tIns="0" rIns="0" bIns="0" rtlCol="0" anchor="ctr"/>
          <a:lstStyle/>
          <a:p>
            <a:pPr indent="0" marL="0">
              <a:buNone/>
            </a:pPr>
            <a:r>
              <a:rPr lang="en-US" sz="1400" dirty="0">
                <a:solidFill>
                  <a:schemeClr val="tx1"/>
                </a:solidFill>
              </a:rPr>
              <a:t>average weekly error</a:t>
            </a:r>
            <a:endParaRPr lang="en-US" sz="1400" dirty="0"/>
          </a:p>
        </p:txBody>
      </p:sp>
      <p:sp>
        <p:nvSpPr>
          <p:cNvPr id="27" name="Text 25"/>
          <p:cNvSpPr txBox="1"/>
          <p:nvPr/>
        </p:nvSpPr>
        <p:spPr>
          <a:xfrm>
            <a:off x="548640" y="4892040"/>
            <a:ext cx="1463040" cy="640080"/>
          </a:xfrm>
          <a:prstGeom prst="rect">
            <a:avLst/>
          </a:prstGeom>
          <a:noFill/>
          <a:ln/>
        </p:spPr>
        <p:txBody>
          <a:bodyPr wrap="square" lIns="0" tIns="0" rIns="0" bIns="0" rtlCol="0" anchor="ctr"/>
          <a:lstStyle/>
          <a:p>
            <a:pPr indent="0" marL="0">
              <a:buNone/>
            </a:pPr>
            <a:r>
              <a:rPr lang="en-US" sz="3200" b="1" dirty="0">
                <a:solidFill>
                  <a:schemeClr val="accent1"/>
                </a:solidFill>
              </a:rPr>
              <a:t>4.2%</a:t>
            </a:r>
            <a:endParaRPr lang="en-US" sz="3200" dirty="0"/>
          </a:p>
        </p:txBody>
      </p:sp>
      <p:sp>
        <p:nvSpPr>
          <p:cNvPr id="28" name="Text 26"/>
          <p:cNvSpPr txBox="1"/>
          <p:nvPr/>
        </p:nvSpPr>
        <p:spPr>
          <a:xfrm>
            <a:off x="2103120" y="4892040"/>
            <a:ext cx="3566160" cy="640080"/>
          </a:xfrm>
          <a:prstGeom prst="rect">
            <a:avLst/>
          </a:prstGeom>
          <a:noFill/>
          <a:ln/>
        </p:spPr>
        <p:txBody>
          <a:bodyPr wrap="square" lIns="0" tIns="0" rIns="0" bIns="0" rtlCol="0" anchor="ctr"/>
          <a:lstStyle/>
          <a:p>
            <a:pPr indent="0" marL="0">
              <a:buNone/>
            </a:pPr>
            <a:r>
              <a:rPr lang="en-US" sz="1400" dirty="0">
                <a:solidFill>
                  <a:schemeClr val="tx1"/>
                </a:solidFill>
              </a:rPr>
              <a:t>error on 12 unseen weeks</a:t>
            </a:r>
            <a:endParaRPr lang="en-US" sz="1400" dirty="0"/>
          </a:p>
        </p:txBody>
      </p:sp>
      <p:sp>
        <p:nvSpPr>
          <p:cNvPr id="29" name="Text 27"/>
          <p:cNvSpPr txBox="1"/>
          <p:nvPr/>
        </p:nvSpPr>
        <p:spPr>
          <a:xfrm>
            <a:off x="548640" y="5577840"/>
            <a:ext cx="1463040" cy="640080"/>
          </a:xfrm>
          <a:prstGeom prst="rect">
            <a:avLst/>
          </a:prstGeom>
          <a:noFill/>
          <a:ln/>
        </p:spPr>
        <p:txBody>
          <a:bodyPr wrap="square" lIns="0" tIns="0" rIns="0" bIns="0" rtlCol="0" anchor="ctr"/>
          <a:lstStyle/>
          <a:p>
            <a:pPr indent="0" marL="0">
              <a:buNone/>
            </a:pPr>
            <a:r>
              <a:rPr lang="en-US" sz="3200" b="1" dirty="0">
                <a:solidFill>
                  <a:schemeClr val="accent1"/>
                </a:solidFill>
              </a:rPr>
              <a:t>&lt; 4</a:t>
            </a:r>
            <a:endParaRPr lang="en-US" sz="3200" dirty="0"/>
          </a:p>
        </p:txBody>
      </p:sp>
      <p:sp>
        <p:nvSpPr>
          <p:cNvPr id="30" name="Text 28"/>
          <p:cNvSpPr txBox="1"/>
          <p:nvPr/>
        </p:nvSpPr>
        <p:spPr>
          <a:xfrm>
            <a:off x="2103120" y="5577840"/>
            <a:ext cx="3566160" cy="640080"/>
          </a:xfrm>
          <a:prstGeom prst="rect">
            <a:avLst/>
          </a:prstGeom>
          <a:noFill/>
          <a:ln/>
        </p:spPr>
        <p:txBody>
          <a:bodyPr wrap="square" lIns="0" tIns="0" rIns="0" bIns="0" rtlCol="0" anchor="ctr"/>
          <a:lstStyle/>
          <a:p>
            <a:pPr indent="0" marL="0">
              <a:buNone/>
            </a:pPr>
            <a:r>
              <a:rPr lang="en-US" sz="1400" dirty="0">
                <a:solidFill>
                  <a:schemeClr val="tx1"/>
                </a:solidFill>
              </a:rPr>
              <a:t>variance inflation for every driver: no harmful overlap</a:t>
            </a:r>
            <a:endParaRPr lang="en-US" sz="1400" dirty="0"/>
          </a:p>
        </p:txBody>
      </p:sp>
      <p:sp>
        <p:nvSpPr>
          <p:cNvPr id="31" name="Text 29"/>
          <p:cNvSpPr txBox="1"/>
          <p:nvPr/>
        </p:nvSpPr>
        <p:spPr>
          <a:xfrm>
            <a:off x="6035040" y="3520440"/>
            <a:ext cx="5605272" cy="411480"/>
          </a:xfrm>
          <a:prstGeom prst="rect">
            <a:avLst/>
          </a:prstGeom>
          <a:noFill/>
          <a:ln/>
        </p:spPr>
        <p:txBody>
          <a:bodyPr wrap="square" lIns="0" tIns="0" rIns="0" bIns="0" rtlCol="0" anchor="ctr"/>
          <a:lstStyle/>
          <a:p>
            <a:pPr indent="0" marL="0">
              <a:buNone/>
            </a:pPr>
            <a:r>
              <a:rPr lang="en-US" sz="1800" b="1" dirty="0">
                <a:solidFill>
                  <a:schemeClr val="tx2"/>
                </a:solidFill>
              </a:rPr>
              <a:t>How far to trust it</a:t>
            </a:r>
            <a:endParaRPr lang="en-US" sz="1800" dirty="0"/>
          </a:p>
        </p:txBody>
      </p:sp>
      <p:sp>
        <p:nvSpPr>
          <p:cNvPr id="32" name="Text 30"/>
          <p:cNvSpPr txBox="1"/>
          <p:nvPr/>
        </p:nvSpPr>
        <p:spPr>
          <a:xfrm>
            <a:off x="6035040" y="3977640"/>
            <a:ext cx="5605272"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TV ran 3 weeks and OOH 5: their ROIs have wide ranges</a:t>
            </a:r>
            <a:endParaRPr lang="en-US" sz="1400" dirty="0"/>
          </a:p>
          <a:p>
            <a:pPr marL="342900" indent="-342900">
              <a:spcAft>
                <a:spcPts val="800"/>
              </a:spcAft>
              <a:buSzPct val="100000"/>
              <a:buChar char="•"/>
            </a:pPr>
            <a:r>
              <a:rPr lang="en-US" sz="1400" dirty="0">
                <a:solidFill>
                  <a:schemeClr val="tx1"/>
                </a:solidFill>
              </a:rPr>
              <a:t>Channels overlap in time (TV inside the Online partnership burst)</a:t>
            </a:r>
            <a:endParaRPr lang="en-US" sz="1400" dirty="0"/>
          </a:p>
          <a:p>
            <a:pPr marL="342900" indent="-342900">
              <a:spcAft>
                <a:spcPts val="800"/>
              </a:spcAft>
              <a:buSzPct val="100000"/>
              <a:buChar char="•"/>
            </a:pPr>
            <a:r>
              <a:rPr lang="en-US" sz="1400" dirty="0">
                <a:solidFill>
                  <a:schemeClr val="tx1"/>
                </a:solidFill>
              </a:rPr>
              <a:t>Revenue ROI, short-term only: no margins, no long-term brand effect</a:t>
            </a:r>
            <a:endParaRPr lang="en-US" sz="1400" dirty="0"/>
          </a:p>
          <a:p>
            <a:pPr marL="342900" indent="-342900">
              <a:spcAft>
                <a:spcPts val="800"/>
              </a:spcAft>
              <a:buSzPct val="100000"/>
              <a:buChar char="•"/>
            </a:pPr>
            <a:r>
              <a:rPr lang="en-US" sz="1400" dirty="0">
                <a:solidFill>
                  <a:schemeClr val="tx1"/>
                </a:solidFill>
              </a:rPr>
              <a:t>Price effect shrinks if a time trend is added (−0.46 vs −0.10)</a:t>
            </a:r>
            <a:endParaRPr lang="en-US" sz="1400" dirty="0"/>
          </a:p>
          <a:p>
            <a:pPr marL="342900" indent="-342900">
              <a:spcAft>
                <a:spcPts val="800"/>
              </a:spcAft>
              <a:buSzPct val="100000"/>
              <a:buChar char="•"/>
            </a:pPr>
            <a:r>
              <a:rPr lang="en-US" sz="1400" dirty="0">
                <a:solidFill>
                  <a:schemeClr val="tx1"/>
                </a:solidFill>
              </a:rPr>
              <a:t>Distribution counts stores that sold, so it can partly follow demand</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2800" b="1" dirty="0">
                <a:solidFill>
                  <a:schemeClr val="tx2"/>
                </a:solidFill>
              </a:rPr>
              <a:t>Recommendations: grow reach, mind the price gap, rebalance media, rethink promotions</a:t>
            </a:r>
            <a:endParaRPr lang="en-US" sz="2800" dirty="0"/>
          </a:p>
        </p:txBody>
      </p:sp>
      <p:sp>
        <p:nvSpPr>
          <p:cNvPr id="3" name="dot 1">
            <a:extLst>
              <a:ext uri="{C183D7F6-B498-43B3-948B-1728B52AA6E4}">
                <adec:decorative xmlns:adec="http://schemas.microsoft.com/office/drawing/2017/decorative" val="1"/>
              </a:ext>
            </a:extLst>
          </p:cNvPr>
          <p:cNvSpPr/>
          <p:nvPr/>
        </p:nvSpPr>
        <p:spPr>
          <a:xfrm>
            <a:off x="548640" y="1554480"/>
            <a:ext cx="502920" cy="502920"/>
          </a:xfrm>
          <a:prstGeom prst="ellipse">
            <a:avLst/>
          </a:prstGeom>
          <a:solidFill>
            <a:schemeClr val="accent1"/>
          </a:solidFill>
          <a:ln/>
        </p:spPr>
      </p:sp>
      <p:sp>
        <p:nvSpPr>
          <p:cNvPr id="4" name="Text 2"/>
          <p:cNvSpPr txBox="1"/>
          <p:nvPr/>
        </p:nvSpPr>
        <p:spPr>
          <a:xfrm>
            <a:off x="548640" y="15544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80160" y="1508760"/>
            <a:ext cx="6309360" cy="1051560"/>
          </a:xfrm>
          <a:prstGeom prst="rect">
            <a:avLst/>
          </a:prstGeom>
          <a:noFill/>
          <a:ln/>
        </p:spPr>
        <p:txBody>
          <a:bodyPr wrap="square" lIns="0" tIns="0" rIns="0" bIns="0" rtlCol="0" anchor="t"/>
          <a:lstStyle/>
          <a:p>
            <a:pPr indent="0" marL="0">
              <a:buNone/>
            </a:pPr>
            <a:r>
              <a:rPr lang="en-US" sz="1800" b="1" dirty="0">
                <a:solidFill>
                  <a:schemeClr val="tx2"/>
                </a:solidFill>
              </a:rPr>
              <a:t>Protect and grow distribution</a:t>
            </a:r>
            <a:endParaRPr lang="en-US" sz="1800" dirty="0"/>
          </a:p>
          <a:p>
            <a:pPr indent="0" marL="0">
              <a:buNone/>
            </a:pPr>
            <a:r>
              <a:rPr lang="en-US" sz="1400" dirty="0">
                <a:solidFill>
                  <a:schemeClr val="tx1"/>
                </a:solidFill>
              </a:rPr>
              <a:t>Each +1 point of ACV is worth about £6M a year; we reach under half the market. Target the missing retailers.</a:t>
            </a:r>
            <a:endParaRPr lang="en-US" sz="1800" dirty="0"/>
          </a:p>
        </p:txBody>
      </p:sp>
      <p:sp>
        <p:nvSpPr>
          <p:cNvPr id="6" name="dot 2">
            <a:extLst>
              <a:ext uri="{C183D7F6-B498-43B3-948B-1728B52AA6E4}">
                <adec:decorative xmlns:adec="http://schemas.microsoft.com/office/drawing/2017/decorative" val="1"/>
              </a:ext>
            </a:extLst>
          </p:cNvPr>
          <p:cNvSpPr/>
          <p:nvPr/>
        </p:nvSpPr>
        <p:spPr>
          <a:xfrm>
            <a:off x="548640" y="2724912"/>
            <a:ext cx="502920" cy="502920"/>
          </a:xfrm>
          <a:prstGeom prst="ellipse">
            <a:avLst/>
          </a:prstGeom>
          <a:solidFill>
            <a:schemeClr val="accent2"/>
          </a:solidFill>
          <a:ln/>
        </p:spPr>
      </p:sp>
      <p:sp>
        <p:nvSpPr>
          <p:cNvPr id="7" name="Text 5"/>
          <p:cNvSpPr txBox="1"/>
          <p:nvPr/>
        </p:nvSpPr>
        <p:spPr>
          <a:xfrm>
            <a:off x="548640" y="2724912"/>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280160" y="2679192"/>
            <a:ext cx="6309360" cy="1051560"/>
          </a:xfrm>
          <a:prstGeom prst="rect">
            <a:avLst/>
          </a:prstGeom>
          <a:noFill/>
          <a:ln/>
        </p:spPr>
        <p:txBody>
          <a:bodyPr wrap="square" lIns="0" tIns="0" rIns="0" bIns="0" rtlCol="0" anchor="t"/>
          <a:lstStyle/>
          <a:p>
            <a:pPr indent="0" marL="0">
              <a:buNone/>
            </a:pPr>
            <a:r>
              <a:rPr lang="en-US" sz="1800" b="1" dirty="0">
                <a:solidFill>
                  <a:schemeClr val="tx2"/>
                </a:solidFill>
              </a:rPr>
              <a:t>Manage the price gap</a:t>
            </a:r>
            <a:endParaRPr lang="en-US" sz="1800" dirty="0"/>
          </a:p>
          <a:p>
            <a:pPr indent="0" marL="0">
              <a:buNone/>
            </a:pPr>
            <a:r>
              <a:rPr lang="en-US" sz="1400" dirty="0">
                <a:solidFill>
                  <a:schemeClr val="tx1"/>
                </a:solidFill>
              </a:rPr>
              <a:t>Our premium over competitors reached +89%. Price against competitors, not in isolation; test before further rises.</a:t>
            </a:r>
            <a:endParaRPr lang="en-US" sz="1800" dirty="0"/>
          </a:p>
        </p:txBody>
      </p:sp>
      <p:sp>
        <p:nvSpPr>
          <p:cNvPr id="9" name="dot 3">
            <a:extLst>
              <a:ext uri="{C183D7F6-B498-43B3-948B-1728B52AA6E4}">
                <adec:decorative xmlns:adec="http://schemas.microsoft.com/office/drawing/2017/decorative" val="1"/>
              </a:ext>
            </a:extLst>
          </p:cNvPr>
          <p:cNvSpPr/>
          <p:nvPr/>
        </p:nvSpPr>
        <p:spPr>
          <a:xfrm>
            <a:off x="548640" y="3895344"/>
            <a:ext cx="502920" cy="502920"/>
          </a:xfrm>
          <a:prstGeom prst="ellipse">
            <a:avLst/>
          </a:prstGeom>
          <a:solidFill>
            <a:schemeClr val="accent1"/>
          </a:solidFill>
          <a:ln/>
        </p:spPr>
      </p:sp>
      <p:sp>
        <p:nvSpPr>
          <p:cNvPr id="10" name="Text 8"/>
          <p:cNvSpPr txBox="1"/>
          <p:nvPr/>
        </p:nvSpPr>
        <p:spPr>
          <a:xfrm>
            <a:off x="548640" y="3895344"/>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280160" y="3849624"/>
            <a:ext cx="6309360" cy="1051560"/>
          </a:xfrm>
          <a:prstGeom prst="rect">
            <a:avLst/>
          </a:prstGeom>
          <a:noFill/>
          <a:ln/>
        </p:spPr>
        <p:txBody>
          <a:bodyPr wrap="square" lIns="0" tIns="0" rIns="0" bIns="0" rtlCol="0" anchor="t"/>
          <a:lstStyle/>
          <a:p>
            <a:pPr indent="0" marL="0">
              <a:buNone/>
            </a:pPr>
            <a:r>
              <a:rPr lang="en-US" sz="1800" b="1" dirty="0">
                <a:solidFill>
                  <a:schemeClr val="tx2"/>
                </a:solidFill>
              </a:rPr>
              <a:t>Rebalance media</a:t>
            </a:r>
            <a:endParaRPr lang="en-US" sz="1800" dirty="0"/>
          </a:p>
          <a:p>
            <a:pPr indent="0" marL="0">
              <a:buNone/>
            </a:pPr>
            <a:r>
              <a:rPr lang="en-US" sz="1400" dirty="0">
                <a:solidFill>
                  <a:schemeClr val="tx1"/>
                </a:solidFill>
              </a:rPr>
              <a:t>Move TV and video money to Online partnership; run a regional test of OOH; if TV stays, spread it over more weeks.</a:t>
            </a:r>
            <a:endParaRPr lang="en-US" sz="1800" dirty="0"/>
          </a:p>
        </p:txBody>
      </p:sp>
      <p:sp>
        <p:nvSpPr>
          <p:cNvPr id="12" name="dot 4">
            <a:extLst>
              <a:ext uri="{C183D7F6-B498-43B3-948B-1728B52AA6E4}">
                <adec:decorative xmlns:adec="http://schemas.microsoft.com/office/drawing/2017/decorative" val="1"/>
              </a:ext>
            </a:extLst>
          </p:cNvPr>
          <p:cNvSpPr/>
          <p:nvPr/>
        </p:nvSpPr>
        <p:spPr>
          <a:xfrm>
            <a:off x="548640" y="5065776"/>
            <a:ext cx="502920" cy="502920"/>
          </a:xfrm>
          <a:prstGeom prst="ellipse">
            <a:avLst/>
          </a:prstGeom>
          <a:solidFill>
            <a:schemeClr val="accent2"/>
          </a:solidFill>
          <a:ln/>
        </p:spPr>
      </p:sp>
      <p:sp>
        <p:nvSpPr>
          <p:cNvPr id="13" name="Text 11"/>
          <p:cNvSpPr txBox="1"/>
          <p:nvPr/>
        </p:nvSpPr>
        <p:spPr>
          <a:xfrm>
            <a:off x="548640" y="5065776"/>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280160" y="5020056"/>
            <a:ext cx="6309360" cy="1051560"/>
          </a:xfrm>
          <a:prstGeom prst="rect">
            <a:avLst/>
          </a:prstGeom>
          <a:noFill/>
          <a:ln/>
        </p:spPr>
        <p:txBody>
          <a:bodyPr wrap="square" lIns="0" tIns="0" rIns="0" bIns="0" rtlCol="0" anchor="t"/>
          <a:lstStyle/>
          <a:p>
            <a:pPr indent="0" marL="0">
              <a:buNone/>
            </a:pPr>
            <a:r>
              <a:rPr lang="en-US" sz="1800" b="1" dirty="0">
                <a:solidFill>
                  <a:schemeClr val="tx2"/>
                </a:solidFill>
              </a:rPr>
              <a:t>Rethink promotions</a:t>
            </a:r>
            <a:endParaRPr lang="en-US" sz="1800" dirty="0"/>
          </a:p>
          <a:p>
            <a:pPr indent="0" marL="0">
              <a:buNone/>
            </a:pPr>
            <a:r>
              <a:rPr lang="en-US" sz="1400" dirty="0">
                <a:solidFill>
                  <a:schemeClr val="tx1"/>
                </a:solidFill>
              </a:rPr>
              <a:t>Test shallower discounts (25–30%) and focus on store reach rather than depth.</a:t>
            </a:r>
            <a:endParaRPr lang="en-US" sz="1800" dirty="0"/>
          </a:p>
        </p:txBody>
      </p:sp>
      <p:sp>
        <p:nvSpPr>
          <p:cNvPr id="15" name="questions and next steps card">
            <a:extLst>
              <a:ext uri="{C183D7F6-B498-43B3-948B-1728B52AA6E4}">
                <adec:decorative xmlns:adec="http://schemas.microsoft.com/office/drawing/2017/decorative" val="1"/>
              </a:ext>
            </a:extLst>
          </p:cNvPr>
          <p:cNvSpPr/>
          <p:nvPr/>
        </p:nvSpPr>
        <p:spPr>
          <a:xfrm>
            <a:off x="8001000" y="1463040"/>
            <a:ext cx="3639312" cy="4709160"/>
          </a:xfrm>
          <a:prstGeom prst="roundRect">
            <a:avLst>
              <a:gd name="adj" fmla="val 3015"/>
            </a:avLst>
          </a:prstGeom>
          <a:solidFill>
            <a:schemeClr val="bg2"/>
          </a:solidFill>
          <a:ln/>
        </p:spPr>
      </p:sp>
      <p:sp>
        <p:nvSpPr>
          <p:cNvPr id="16" name="Text 14"/>
          <p:cNvSpPr txBox="1"/>
          <p:nvPr/>
        </p:nvSpPr>
        <p:spPr>
          <a:xfrm>
            <a:off x="8229600" y="1645920"/>
            <a:ext cx="3200400" cy="411480"/>
          </a:xfrm>
          <a:prstGeom prst="rect">
            <a:avLst/>
          </a:prstGeom>
          <a:noFill/>
          <a:ln/>
        </p:spPr>
        <p:txBody>
          <a:bodyPr wrap="square" lIns="0" tIns="0" rIns="0" bIns="0" rtlCol="0" anchor="ctr"/>
          <a:lstStyle/>
          <a:p>
            <a:pPr indent="0" marL="0">
              <a:buNone/>
            </a:pPr>
            <a:r>
              <a:rPr lang="en-US" sz="1800" b="1" dirty="0">
                <a:solidFill>
                  <a:schemeClr val="tx2"/>
                </a:solidFill>
              </a:rPr>
              <a:t>Questions for the client</a:t>
            </a:r>
            <a:endParaRPr lang="en-US" sz="1800" dirty="0"/>
          </a:p>
        </p:txBody>
      </p:sp>
      <p:sp>
        <p:nvSpPr>
          <p:cNvPr id="17" name="Text 15"/>
          <p:cNvSpPr txBox="1"/>
          <p:nvPr/>
        </p:nvSpPr>
        <p:spPr>
          <a:xfrm>
            <a:off x="8229600" y="210312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Price per kg nearly doubled: list price rises or a shift to smaller packs?</a:t>
            </a:r>
            <a:endParaRPr lang="en-US" sz="1400" dirty="0"/>
          </a:p>
          <a:p>
            <a:pPr marL="342900" indent="-342900">
              <a:spcAft>
                <a:spcPts val="600"/>
              </a:spcAft>
              <a:buSzPct val="100000"/>
              <a:buChar char="•"/>
            </a:pPr>
            <a:r>
              <a:rPr lang="en-US" sz="1400" dirty="0">
                <a:solidFill>
                  <a:schemeClr val="tx1"/>
                </a:solidFill>
              </a:rPr>
              <a:t>Why were promotions paused from June to December 2022?</a:t>
            </a:r>
            <a:endParaRPr lang="en-US" sz="1400" dirty="0"/>
          </a:p>
          <a:p>
            <a:pPr marL="342900" indent="-342900">
              <a:spcAft>
                <a:spcPts val="600"/>
              </a:spcAft>
              <a:buSzPct val="100000"/>
              <a:buChar char="•"/>
            </a:pPr>
            <a:r>
              <a:rPr lang="en-US" sz="1400" dirty="0">
                <a:solidFill>
                  <a:schemeClr val="tx1"/>
                </a:solidFill>
              </a:rPr>
              <a:t>What exactly are Online partnership and RDM?</a:t>
            </a:r>
            <a:endParaRPr lang="en-US" sz="1400" dirty="0"/>
          </a:p>
          <a:p>
            <a:pPr marL="342900" indent="-342900">
              <a:spcAft>
                <a:spcPts val="600"/>
              </a:spcAft>
              <a:buSzPct val="100000"/>
              <a:buChar char="•"/>
            </a:pPr>
            <a:r>
              <a:rPr lang="en-US" sz="1400" dirty="0">
                <a:solidFill>
                  <a:schemeClr val="tx1"/>
                </a:solidFill>
              </a:rPr>
              <a:t>Is other marketing (in-store, trade) missing from the data?</a:t>
            </a:r>
            <a:endParaRPr lang="en-US" sz="1400" dirty="0"/>
          </a:p>
        </p:txBody>
      </p:sp>
      <p:sp>
        <p:nvSpPr>
          <p:cNvPr id="18" name="Text 16"/>
          <p:cNvSpPr txBox="1"/>
          <p:nvPr/>
        </p:nvSpPr>
        <p:spPr>
          <a:xfrm>
            <a:off x="8229600" y="4434840"/>
            <a:ext cx="3200400" cy="411480"/>
          </a:xfrm>
          <a:prstGeom prst="rect">
            <a:avLst/>
          </a:prstGeom>
          <a:noFill/>
          <a:ln/>
        </p:spPr>
        <p:txBody>
          <a:bodyPr wrap="square" lIns="0" tIns="0" rIns="0" bIns="0" rtlCol="0" anchor="ctr"/>
          <a:lstStyle/>
          <a:p>
            <a:pPr indent="0" marL="0">
              <a:buNone/>
            </a:pPr>
            <a:r>
              <a:rPr lang="en-US" sz="1800" b="1" dirty="0">
                <a:solidFill>
                  <a:schemeClr val="tx2"/>
                </a:solidFill>
              </a:rPr>
              <a:t>Next steps for the model</a:t>
            </a:r>
            <a:endParaRPr lang="en-US" sz="1800" dirty="0"/>
          </a:p>
        </p:txBody>
      </p:sp>
      <p:sp>
        <p:nvSpPr>
          <p:cNvPr id="19" name="Text 17"/>
          <p:cNvSpPr txBox="1"/>
          <p:nvPr/>
        </p:nvSpPr>
        <p:spPr>
          <a:xfrm>
            <a:off x="8229600" y="4892040"/>
            <a:ext cx="320040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Bayesian MMM with priors</a:t>
            </a:r>
            <a:endParaRPr lang="en-US" sz="1400" dirty="0"/>
          </a:p>
          <a:p>
            <a:pPr marL="342900" indent="-342900">
              <a:spcAft>
                <a:spcPts val="400"/>
              </a:spcAft>
              <a:buSzPct val="100000"/>
              <a:buChar char="•"/>
            </a:pPr>
            <a:r>
              <a:rPr lang="en-US" sz="1400" dirty="0">
                <a:solidFill>
                  <a:schemeClr val="tx1"/>
                </a:solidFill>
              </a:rPr>
              <a:t>Regional data and lift tests</a:t>
            </a:r>
            <a:endParaRPr lang="en-US" sz="1400" dirty="0"/>
          </a:p>
          <a:p>
            <a:pPr marL="342900" indent="-342900">
              <a:spcAft>
                <a:spcPts val="400"/>
              </a:spcAft>
              <a:buSzPct val="100000"/>
              <a:buChar char="•"/>
            </a:pPr>
            <a:r>
              <a:rPr lang="en-US" sz="1400" dirty="0">
                <a:solidFill>
                  <a:schemeClr val="tx1"/>
                </a:solidFill>
              </a:rPr>
              <a:t>Margin data for profit ROI</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8229600" cy="1097280"/>
          </a:xfrm>
          <a:prstGeom prst="rect">
            <a:avLst/>
          </a:prstGeom>
          <a:noFill/>
          <a:ln/>
        </p:spPr>
        <p:txBody>
          <a:bodyPr wrap="square" lIns="0" tIns="0" rIns="0" bIns="0" rtlCol="0"/>
          <a:lstStyle/>
          <a:p>
            <a:pPr algn="l" indent="0" marL="0">
              <a:buNone/>
            </a:pPr>
            <a:r>
              <a:rPr lang="en-US" sz="4000" b="1" dirty="0">
                <a:solidFill>
                  <a:schemeClr val="bg1"/>
                </a:solidFill>
              </a:rPr>
              <a:t>Appendix</a:t>
            </a:r>
            <a:endParaRPr lang="en-US" sz="4000" dirty="0"/>
          </a:p>
        </p:txBody>
      </p:sp>
      <p:sp>
        <p:nvSpPr>
          <p:cNvPr id="3" name="Text 0"/>
          <p:cNvSpPr/>
          <p:nvPr>
            <p:ph idx="101" type="body" hasCustomPrompt="1"/>
          </p:nvPr>
        </p:nvSpPr>
        <p:spPr>
          <a:xfrm>
            <a:off x="731520" y="3474720"/>
            <a:ext cx="8229600" cy="731520"/>
          </a:xfrm>
          <a:prstGeom prst="rect">
            <a:avLst/>
          </a:prstGeom>
          <a:noFill/>
          <a:ln/>
        </p:spPr>
        <p:txBody>
          <a:bodyPr wrap="square" lIns="0" tIns="0" rIns="0" bIns="0" rtlCol="0"/>
          <a:lstStyle/>
          <a:p>
            <a:pPr indent="0" marL="0">
              <a:buNone/>
            </a:pPr>
            <a:r>
              <a:rPr lang="en-US" sz="1800" dirty="0">
                <a:solidFill>
                  <a:schemeClr val="accent4"/>
                </a:solidFill>
              </a:rPr>
              <a:t>Model details, diagnostics, media calendar and variables tested</a:t>
            </a:r>
            <a:endParaRPr lang="en-US" sz="1800" dirty="0"/>
          </a:p>
        </p:txBody>
      </p:sp>
      <p:sp>
        <p:nvSpPr>
          <p:cNvPr id="4" name="sun">
            <a:extLst>
              <a:ext uri="{C183D7F6-B498-43B3-948B-1728B52AA6E4}">
                <adec:decorative xmlns:adec="http://schemas.microsoft.com/office/drawing/2017/decorative" val="1"/>
              </a:ext>
            </a:extLst>
          </p:cNvPr>
          <p:cNvSpPr/>
          <p:nvPr/>
        </p:nvSpPr>
        <p:spPr>
          <a:xfrm>
            <a:off x="9509760" y="2011680"/>
            <a:ext cx="2743200" cy="2743200"/>
          </a:xfrm>
          <a:prstGeom prst="ellipse">
            <a:avLst/>
          </a:prstGeom>
          <a:solidFill>
            <a:schemeClr val="accent2">
              <a:alpha val="90000"/>
            </a:schemeClr>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2800" b="1" dirty="0">
                <a:solidFill>
                  <a:schemeClr val="tx2"/>
                </a:solidFill>
              </a:rPr>
              <a:t>Model specification: log-linear OLS on weekly volume, 10 drivers</a:t>
            </a:r>
            <a:endParaRPr lang="en-US" sz="2800" dirty="0"/>
          </a:p>
        </p:txBody>
      </p:sp>
      <p:sp>
        <p:nvSpPr>
          <p:cNvPr id="3" name="Text 1"/>
          <p:cNvSpPr txBox="1"/>
          <p:nvPr/>
        </p:nvSpPr>
        <p:spPr>
          <a:xfrm>
            <a:off x="548640" y="1371600"/>
            <a:ext cx="11091672" cy="411480"/>
          </a:xfrm>
          <a:prstGeom prst="rect">
            <a:avLst/>
          </a:prstGeom>
          <a:noFill/>
          <a:ln/>
        </p:spPr>
        <p:txBody>
          <a:bodyPr wrap="square" lIns="0" tIns="0" rIns="0" bIns="0" rtlCol="0" anchor="ctr"/>
          <a:lstStyle/>
          <a:p>
            <a:pPr indent="0" marL="0">
              <a:buNone/>
            </a:pPr>
            <a:r>
              <a:rPr lang="en-US" sz="1400" i="1" dirty="0">
                <a:solidFill>
                  <a:schemeClr val="tx2"/>
                </a:solidFill>
              </a:rPr>
              <a:t>ln(volume) = b0 + weather + Christmas + b·ln(price / competitor price) + b·ACV + Σ b·ln(1 + adstock(spend) / scale)</a:t>
            </a:r>
            <a:endParaRPr lang="en-US" sz="1400" dirty="0"/>
          </a:p>
        </p:txBody>
      </p:sp>
      <p:graphicFrame>
        <p:nvGraphicFramePr>
          <p:cNvPr id="12" name="Table: model coefficients, t-statistics and strength of evidence" descr="Table: model coefficients, t-statistics and strength of evidence"/>
          <p:cNvGraphicFramePr>
            <a:graphicFrameLocks noGrp="1"/>
          </p:cNvGraphicFramePr>
          <p:nvPr>
            <p:extLst>
              <p:ext uri="{D42A27DB-BD31-4B8C-83A1-F6EECF244321}">
                <p14:modId xmlns:p14="http://schemas.microsoft.com/office/powerpoint/2010/main" val="1579011935"/>
              </p:ext>
            </p:extLst>
          </p:nvPr>
        </p:nvGraphicFramePr>
        <p:xfrm>
          <a:off x="548640" y="1874520"/>
          <a:ext cx="7315200" cy="914400"/>
        </p:xfrm>
        <a:graphic>
          <a:graphicData uri="http://schemas.openxmlformats.org/drawingml/2006/table">
            <a:tbl>
              <a:tblPr firstRow="1" bandRow="1"/>
              <a:tblGrid>
                <a:gridCol w="3657600"/>
                <a:gridCol w="1280160"/>
                <a:gridCol w="1280160"/>
                <a:gridCol w="1097280"/>
              </a:tblGrid>
              <a:tr h="365760">
                <a:tc>
                  <a:txBody>
                    <a:bodyPr/>
                    <a:lstStyle/>
                    <a:p>
                      <a:pPr algn="l" indent="0" marL="0">
                        <a:buNone/>
                      </a:pPr>
                      <a:r>
                        <a:rPr lang="en-US" sz="1300" b="1" dirty="0">
                          <a:solidFill>
                            <a:schemeClr val="bg1"/>
                          </a:solidFill>
                        </a:rPr>
                        <a:t>Driver</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300" b="1" dirty="0">
                          <a:solidFill>
                            <a:schemeClr val="bg1"/>
                          </a:solidFill>
                        </a:rPr>
                        <a:t>Coefficient</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300" b="1" dirty="0">
                          <a:solidFill>
                            <a:schemeClr val="bg1"/>
                          </a:solidFill>
                        </a:rPr>
                        <a:t>t-stat (HAC)</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300" b="1" dirty="0">
                          <a:solidFill>
                            <a:schemeClr val="bg1"/>
                          </a:solidFill>
                        </a:rPr>
                        <a:t>Evidence</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r>
              <a:tr h="365760">
                <a:tc>
                  <a:txBody>
                    <a:bodyPr/>
                    <a:lstStyle/>
                    <a:p>
                      <a:pPr indent="0" marL="0">
                        <a:buNone/>
                      </a:pPr>
                      <a:r>
                        <a:rPr lang="en-US" sz="1300" dirty="0">
                          <a:solidFill>
                            <a:schemeClr val="tx1"/>
                          </a:solidFill>
                        </a:rPr>
                        <a:t>Max temperature (°C)</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0.0187</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11.9</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High</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365760">
                <a:tc>
                  <a:txBody>
                    <a:bodyPr/>
                    <a:lstStyle/>
                    <a:p>
                      <a:pPr indent="0" marL="0">
                        <a:buNone/>
                      </a:pPr>
                      <a:r>
                        <a:rPr lang="en-US" sz="1300" dirty="0">
                          <a:solidFill>
                            <a:schemeClr val="tx1"/>
                          </a:solidFill>
                        </a:rPr>
                        <a:t>Degrees above 20°C</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0.0221</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5.1</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High</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300" dirty="0">
                          <a:solidFill>
                            <a:schemeClr val="tx1"/>
                          </a:solidFill>
                        </a:rPr>
                        <a:t>Rainfall</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-0.0017</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-5.8</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High</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365760">
                <a:tc>
                  <a:txBody>
                    <a:bodyPr/>
                    <a:lstStyle/>
                    <a:p>
                      <a:pPr indent="0" marL="0">
                        <a:buNone/>
                      </a:pPr>
                      <a:r>
                        <a:rPr lang="en-US" sz="1300" dirty="0">
                          <a:solidFill>
                            <a:schemeClr val="tx1"/>
                          </a:solidFill>
                        </a:rPr>
                        <a:t>Christmas / New Year week</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-0.2426</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-4.8</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High</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300" dirty="0">
                          <a:solidFill>
                            <a:schemeClr val="tx1"/>
                          </a:solidFill>
                        </a:rPr>
                        <a:t>ln(base price / competitor price)</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-0.4569</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-6.0</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High</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365760">
                <a:tc>
                  <a:txBody>
                    <a:bodyPr/>
                    <a:lstStyle/>
                    <a:p>
                      <a:pPr indent="0" marL="0">
                        <a:buNone/>
                      </a:pPr>
                      <a:r>
                        <a:rPr lang="en-US" sz="1300" dirty="0">
                          <a:solidFill>
                            <a:schemeClr val="tx1"/>
                          </a:solidFill>
                        </a:rPr>
                        <a:t>Weighted distribution (ACV %)</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0.0364</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9.8</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High</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300" dirty="0">
                          <a:solidFill>
                            <a:schemeClr val="tx1"/>
                          </a:solidFill>
                        </a:rPr>
                        <a:t>TV</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0.0037</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0.9</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Low</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365760">
                <a:tc>
                  <a:txBody>
                    <a:bodyPr/>
                    <a:lstStyle/>
                    <a:p>
                      <a:pPr indent="0" marL="0">
                        <a:buNone/>
                      </a:pPr>
                      <a:r>
                        <a:rPr lang="en-US" sz="1300" dirty="0">
                          <a:solidFill>
                            <a:schemeClr val="tx1"/>
                          </a:solidFill>
                        </a:rPr>
                        <a:t>Online video</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0.0037</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0.1</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Low</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300" dirty="0">
                          <a:solidFill>
                            <a:schemeClr val="tx1"/>
                          </a:solidFill>
                        </a:rPr>
                        <a:t>Online partnership</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0.0754</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4.3</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High</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365760">
                <a:tc>
                  <a:txBody>
                    <a:bodyPr/>
                    <a:lstStyle/>
                    <a:p>
                      <a:pPr indent="0" marL="0">
                        <a:buNone/>
                      </a:pPr>
                      <a:r>
                        <a:rPr lang="en-US" sz="1300" dirty="0">
                          <a:solidFill>
                            <a:schemeClr val="tx1"/>
                          </a:solidFill>
                        </a:rPr>
                        <a:t>OOH</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0.0267</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1.4</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Medium</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adstock card">
            <a:extLst>
              <a:ext uri="{C183D7F6-B498-43B3-948B-1728B52AA6E4}">
                <adec:decorative xmlns:adec="http://schemas.microsoft.com/office/drawing/2017/decorative" val="1"/>
              </a:ext>
            </a:extLst>
          </p:cNvPr>
          <p:cNvSpPr/>
          <p:nvPr/>
        </p:nvSpPr>
        <p:spPr>
          <a:xfrm>
            <a:off x="8229600" y="1874520"/>
            <a:ext cx="3410712" cy="4023360"/>
          </a:xfrm>
          <a:prstGeom prst="roundRect">
            <a:avLst>
              <a:gd name="adj" fmla="val 3217"/>
            </a:avLst>
          </a:prstGeom>
          <a:solidFill>
            <a:schemeClr val="bg2"/>
          </a:solidFill>
          <a:ln/>
        </p:spPr>
      </p:sp>
      <p:sp>
        <p:nvSpPr>
          <p:cNvPr id="6" name="Text 3"/>
          <p:cNvSpPr txBox="1"/>
          <p:nvPr/>
        </p:nvSpPr>
        <p:spPr>
          <a:xfrm>
            <a:off x="8458200" y="2057400"/>
            <a:ext cx="2971800" cy="365760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Weekly carryover rates</a:t>
            </a:r>
            <a:endParaRPr lang="en-US" sz="1600" dirty="0"/>
          </a:p>
          <a:p>
            <a:pPr marL="342900" indent="-342900">
              <a:spcAft>
                <a:spcPts val="600"/>
              </a:spcAft>
              <a:buSzPct val="100000"/>
              <a:buChar char="•"/>
            </a:pPr>
            <a:r>
              <a:rPr lang="en-US" sz="1400" dirty="0">
                <a:solidFill>
                  <a:schemeClr val="tx1"/>
                </a:solidFill>
              </a:rPr>
              <a:t>TV: 0.3</a:t>
            </a:r>
            <a:endParaRPr lang="en-US" sz="1600" dirty="0"/>
          </a:p>
          <a:p>
            <a:pPr marL="342900" indent="-342900">
              <a:spcAft>
                <a:spcPts val="600"/>
              </a:spcAft>
              <a:buSzPct val="100000"/>
              <a:buChar char="•"/>
            </a:pPr>
            <a:r>
              <a:rPr lang="en-US" sz="1400" dirty="0">
                <a:solidFill>
                  <a:schemeClr val="tx1"/>
                </a:solidFill>
              </a:rPr>
              <a:t>Online video: 0.8</a:t>
            </a:r>
            <a:endParaRPr lang="en-US" sz="1600" dirty="0"/>
          </a:p>
          <a:p>
            <a:pPr marL="342900" indent="-342900">
              <a:spcAft>
                <a:spcPts val="600"/>
              </a:spcAft>
              <a:buSzPct val="100000"/>
              <a:buChar char="•"/>
            </a:pPr>
            <a:r>
              <a:rPr lang="en-US" sz="1400" dirty="0">
                <a:solidFill>
                  <a:schemeClr val="tx1"/>
                </a:solidFill>
              </a:rPr>
              <a:t>Online partnership: 0.0</a:t>
            </a:r>
            <a:endParaRPr lang="en-US" sz="1600" dirty="0"/>
          </a:p>
          <a:p>
            <a:pPr marL="342900" indent="-342900">
              <a:spcAft>
                <a:spcPts val="600"/>
              </a:spcAft>
              <a:buSzPct val="100000"/>
              <a:buChar char="•"/>
            </a:pPr>
            <a:r>
              <a:rPr lang="en-US" sz="1400" dirty="0">
                <a:solidFill>
                  <a:schemeClr val="tx1"/>
                </a:solidFill>
              </a:rPr>
              <a:t>OOH: 0.5</a:t>
            </a:r>
            <a:endParaRPr lang="en-US" sz="1600" dirty="0"/>
          </a:p>
          <a:p>
            <a:pPr indent="0" marL="0">
              <a:spcAft>
                <a:spcPts val="600"/>
              </a:spcAft>
              <a:buNone/>
            </a:pPr>
            <a:r>
              <a:rPr lang="en-US" sz="1200" dirty="0">
                <a:solidFill>
                  <a:srgbClr val="5B6B70"/>
                </a:solidFill>
              </a:rPr>
              <a:t>Grid search within business ranges; best AIC among models with all media effects positive. Saturation scale = average adstocked spend in on-air weeks.</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2800" b="1" dirty="0">
                <a:solidFill>
                  <a:schemeClr val="tx2"/>
                </a:solidFill>
              </a:rPr>
              <a:t>Model building and diagnostics: each driver group earns its place; residuals checked</a:t>
            </a:r>
            <a:endParaRPr lang="en-US" sz="2800" dirty="0"/>
          </a:p>
        </p:txBody>
      </p:sp>
      <p:graphicFrame>
        <p:nvGraphicFramePr>
          <p:cNvPr id="3" name="Chart 0" descr="Line chart of actual versus model weekly volume: the two lines overlap closely across all three years."/>
          <p:cNvGraphicFramePr/>
          <p:nvPr/>
        </p:nvGraphicFramePr>
        <p:xfrm>
          <a:off x="548640" y="1371600"/>
          <a:ext cx="11091672" cy="233172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Table: model fit at each building stage" descr="Table: model fit at each building stage"/>
          <p:cNvGraphicFramePr>
            <a:graphicFrameLocks noGrp="1"/>
          </p:cNvGraphicFramePr>
          <p:nvPr>
            <p:extLst>
              <p:ext uri="{D42A27DB-BD31-4B8C-83A1-F6EECF244321}">
                <p14:modId xmlns:p14="http://schemas.microsoft.com/office/powerpoint/2010/main" val="1579011935"/>
              </p:ext>
            </p:extLst>
          </p:nvPr>
        </p:nvGraphicFramePr>
        <p:xfrm>
          <a:off x="548640" y="3886200"/>
          <a:ext cx="5669280" cy="914400"/>
        </p:xfrm>
        <a:graphic>
          <a:graphicData uri="http://schemas.openxmlformats.org/drawingml/2006/table">
            <a:tbl>
              <a:tblPr firstRow="1" bandRow="1"/>
              <a:tblGrid>
                <a:gridCol w="3840480"/>
                <a:gridCol w="914400"/>
                <a:gridCol w="914400"/>
              </a:tblGrid>
              <a:tr h="365760">
                <a:tc>
                  <a:txBody>
                    <a:bodyPr/>
                    <a:lstStyle/>
                    <a:p>
                      <a:pPr algn="l" indent="0" marL="0">
                        <a:buNone/>
                      </a:pPr>
                      <a:r>
                        <a:rPr lang="en-US" sz="1300" b="1" dirty="0">
                          <a:solidFill>
                            <a:schemeClr val="bg1"/>
                          </a:solidFill>
                        </a:rPr>
                        <a:t>Stage</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300" b="1" dirty="0">
                          <a:solidFill>
                            <a:schemeClr val="bg1"/>
                          </a:solidFill>
                        </a:rPr>
                        <a:t>Adj. R²</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300" b="1" dirty="0">
                          <a:solidFill>
                            <a:schemeClr val="bg1"/>
                          </a:solidFill>
                        </a:rPr>
                        <a:t>Error</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r>
              <a:tr h="365760">
                <a:tc>
                  <a:txBody>
                    <a:bodyPr/>
                    <a:lstStyle/>
                    <a:p>
                      <a:pPr indent="0" marL="0">
                        <a:buNone/>
                      </a:pPr>
                      <a:r>
                        <a:rPr lang="en-US" sz="1300" dirty="0">
                          <a:solidFill>
                            <a:schemeClr val="tx1"/>
                          </a:solidFill>
                        </a:rPr>
                        <a:t>1. Temperature only</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0.607</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10.3%</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365760">
                <a:tc>
                  <a:txBody>
                    <a:bodyPr/>
                    <a:lstStyle/>
                    <a:p>
                      <a:pPr indent="0" marL="0">
                        <a:buNone/>
                      </a:pPr>
                      <a:r>
                        <a:rPr lang="en-US" sz="1300" dirty="0">
                          <a:solidFill>
                            <a:schemeClr val="tx1"/>
                          </a:solidFill>
                        </a:rPr>
                        <a:t>2. + hot weeks, rain, Christmas</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0.722</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8.5%</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300" dirty="0">
                          <a:solidFill>
                            <a:schemeClr val="tx1"/>
                          </a:solidFill>
                        </a:rPr>
                        <a:t>3. + relative price</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0.721</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8.5%</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365760">
                <a:tc>
                  <a:txBody>
                    <a:bodyPr/>
                    <a:lstStyle/>
                    <a:p>
                      <a:pPr indent="0" marL="0">
                        <a:buNone/>
                      </a:pPr>
                      <a:r>
                        <a:rPr lang="en-US" sz="1300" dirty="0">
                          <a:solidFill>
                            <a:schemeClr val="tx1"/>
                          </a:solidFill>
                        </a:rPr>
                        <a:t>4. + distribution</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0.908</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4.7%</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300" dirty="0">
                          <a:solidFill>
                            <a:schemeClr val="tx1"/>
                          </a:solidFill>
                        </a:rPr>
                        <a:t>5. + media (final model)</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0.913</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4.5%</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bl>
          </a:graphicData>
        </a:graphic>
      </p:graphicFrame>
      <p:graphicFrame>
        <p:nvGraphicFramePr>
          <p:cNvPr id="25" name="Table: residual diagnostic tests" descr="Table: residual diagnostic tests"/>
          <p:cNvGraphicFramePr>
            <a:graphicFrameLocks noGrp="1"/>
          </p:cNvGraphicFramePr>
          <p:nvPr>
            <p:extLst>
              <p:ext uri="{D42A27DB-BD31-4B8C-83A1-F6EECF244321}">
                <p14:modId xmlns:p14="http://schemas.microsoft.com/office/powerpoint/2010/main" val="1579011935"/>
              </p:ext>
            </p:extLst>
          </p:nvPr>
        </p:nvGraphicFramePr>
        <p:xfrm>
          <a:off x="6583680" y="3886200"/>
          <a:ext cx="5056632" cy="914400"/>
        </p:xfrm>
        <a:graphic>
          <a:graphicData uri="http://schemas.openxmlformats.org/drawingml/2006/table">
            <a:tbl>
              <a:tblPr firstRow="1" bandRow="1"/>
              <a:tblGrid>
                <a:gridCol w="3017520"/>
                <a:gridCol w="1005840"/>
                <a:gridCol w="1033272"/>
              </a:tblGrid>
              <a:tr h="365760">
                <a:tc>
                  <a:txBody>
                    <a:bodyPr/>
                    <a:lstStyle/>
                    <a:p>
                      <a:pPr algn="l" indent="0" marL="0">
                        <a:buNone/>
                      </a:pPr>
                      <a:r>
                        <a:rPr lang="en-US" sz="1300" b="1" dirty="0">
                          <a:solidFill>
                            <a:schemeClr val="bg1"/>
                          </a:solidFill>
                        </a:rPr>
                        <a:t>Check</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300" b="1" dirty="0">
                          <a:solidFill>
                            <a:schemeClr val="bg1"/>
                          </a:solidFill>
                        </a:rPr>
                        <a:t>Value</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300" b="1" dirty="0">
                          <a:solidFill>
                            <a:schemeClr val="bg1"/>
                          </a:solidFill>
                        </a:rPr>
                        <a:t>p-value</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r>
              <a:tr h="365760">
                <a:tc>
                  <a:txBody>
                    <a:bodyPr/>
                    <a:lstStyle/>
                    <a:p>
                      <a:pPr indent="0" marL="0">
                        <a:buNone/>
                      </a:pPr>
                      <a:r>
                        <a:rPr lang="en-US" sz="1300" dirty="0">
                          <a:solidFill>
                            <a:schemeClr val="tx1"/>
                          </a:solidFill>
                        </a:rPr>
                        <a:t>Durbin-Watson</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1.26</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365760">
                <a:tc>
                  <a:txBody>
                    <a:bodyPr/>
                    <a:lstStyle/>
                    <a:p>
                      <a:pPr indent="0" marL="0">
                        <a:buNone/>
                      </a:pPr>
                      <a:r>
                        <a:rPr lang="en-US" sz="1300" dirty="0">
                          <a:solidFill>
                            <a:schemeClr val="tx1"/>
                          </a:solidFill>
                        </a:rPr>
                        <a:t>Breusch-Godfrey (4 lags)</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21.80</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0.000</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300" dirty="0">
                          <a:solidFill>
                            <a:schemeClr val="tx1"/>
                          </a:solidFill>
                        </a:rPr>
                        <a:t>Breusch-Pagan</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24.88</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0.006</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365760">
                <a:tc>
                  <a:txBody>
                    <a:bodyPr/>
                    <a:lstStyle/>
                    <a:p>
                      <a:pPr indent="0" marL="0">
                        <a:buNone/>
                      </a:pPr>
                      <a:r>
                        <a:rPr lang="en-US" sz="1300" dirty="0">
                          <a:solidFill>
                            <a:schemeClr val="tx1"/>
                          </a:solidFill>
                        </a:rPr>
                        <a:t>Jarque-Bera</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7.87</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0.020</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300" dirty="0">
                          <a:solidFill>
                            <a:schemeClr val="tx1"/>
                          </a:solidFill>
                        </a:rPr>
                        <a:t>Residual std (log points)</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0.06</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2800" b="1" dirty="0">
                <a:solidFill>
                  <a:schemeClr val="tx2"/>
                </a:solidFill>
              </a:rPr>
              <a:t>Media calendar: sparse, bursty activity with channels overlapping in time</a:t>
            </a:r>
            <a:endParaRPr lang="en-US" sz="2800" dirty="0"/>
          </a:p>
        </p:txBody>
      </p:sp>
      <p:graphicFrame>
        <p:nvGraphicFramePr>
          <p:cNvPr id="14" name="Table: monthly media calendar, darker cells mean more spend" descr="Table: monthly media calendar, darker cells mean more spend"/>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firstRow="1" bandRow="1"/>
              <a:tblGrid>
                <a:gridCol w="1737360"/>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gridCol w="252819"/>
              </a:tblGrid>
              <a:tr h="320040">
                <a:tc>
                  <a:txBody>
                    <a:bodyPr/>
                    <a:lstStyle/>
                    <a:p>
                      <a:pPr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5B6B70"/>
                          </a:solidFill>
                        </a:rPr>
                        <a:t>Jan 22</a:t>
                      </a: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5B6B70"/>
                          </a:solidFill>
                        </a:rPr>
                        <a:t>Jul 22</a:t>
                      </a: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5B6B70"/>
                          </a:solidFill>
                        </a:rPr>
                        <a:t>Jan 23</a:t>
                      </a: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5B6B70"/>
                          </a:solidFill>
                        </a:rPr>
                        <a:t>Jul 23</a:t>
                      </a: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5B6B70"/>
                          </a:solidFill>
                        </a:rPr>
                        <a:t>Jan 24</a:t>
                      </a: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5B6B70"/>
                          </a:solidFill>
                        </a:rPr>
                        <a:t>Jul 24</a:t>
                      </a: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5B6B70"/>
                          </a:solidFill>
                        </a:rPr>
                        <a:t>Jan 25</a:t>
                      </a:r>
                      <a:endParaRPr lang="en-US" sz="1000" dirty="0"/>
                    </a:p>
                  </a:txBody>
                  <a:tcPr marL="27432" marR="0" marT="0" marB="0" anchor="ctr">
                    <a:lnL w="0" cap="flat" cmpd="sng" algn="ctr">
                      <a:noFill/>
                    </a:lnL>
                    <a:lnR w="0" cap="flat" cmpd="sng" algn="ctr">
                      <a:noFill/>
                    </a:lnR>
                    <a:lnT w="0" cap="flat" cmpd="sng" algn="ctr">
                      <a:noFill/>
                    </a:lnT>
                    <a:lnB w="0" cap="flat" cmpd="sng" algn="ctr">
                      <a:noFill/>
                    </a:lnB>
                  </a:tcPr>
                </a:tc>
              </a:tr>
              <a:tr h="411480">
                <a:tc>
                  <a:txBody>
                    <a:bodyPr/>
                    <a:lstStyle/>
                    <a:p>
                      <a:pPr indent="0" marL="0">
                        <a:buNone/>
                      </a:pPr>
                      <a:r>
                        <a:rPr lang="en-US" sz="1200" b="1" dirty="0">
                          <a:solidFill>
                            <a:schemeClr val="tx1"/>
                          </a:solidFill>
                        </a:rPr>
                        <a:t>TV</a:t>
                      </a:r>
                      <a:endParaRPr lang="en-US" sz="12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7F8C"/>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chemeClr val="tx1"/>
                          </a:solidFill>
                        </a:rPr>
                        <a:t>VOD</a:t>
                      </a:r>
                      <a:endParaRPr lang="en-US" sz="12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DADB5"/>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9ABB4"/>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AACB4"/>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0A6A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FA6A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1B0B8"/>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chemeClr val="tx1"/>
                          </a:solidFill>
                        </a:rPr>
                        <a:t>OLV</a:t>
                      </a:r>
                      <a:endParaRPr lang="en-US" sz="12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AB5BC"/>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CA4AD"/>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2C2C9"/>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D4D8"/>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BBEC5"/>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1B9C0"/>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chemeClr val="tx1"/>
                          </a:solidFill>
                        </a:rPr>
                        <a:t>Social</a:t>
                      </a:r>
                      <a:endParaRPr lang="en-US" sz="12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7A1AA"/>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8C6CB"/>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DC8CE"/>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1C2C8"/>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FB7B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6B2BA"/>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5A9B1"/>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8AAB3"/>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chemeClr val="tx1"/>
                          </a:solidFill>
                        </a:rPr>
                        <a:t>Search</a:t>
                      </a:r>
                      <a:endParaRPr lang="en-US" sz="12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0D3D8"/>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7CED3"/>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7CED3"/>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D1D6"/>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chemeClr val="tx1"/>
                          </a:solidFill>
                        </a:rPr>
                        <a:t>RDM</a:t>
                      </a:r>
                      <a:endParaRPr lang="en-US" sz="12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D5DA"/>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3D5D9"/>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D4D9"/>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2D4D9"/>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1D3D8"/>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1D4D8"/>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0D3D7"/>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D5D9"/>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D5DA"/>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6D7DB"/>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8D7DB"/>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chemeClr val="tx1"/>
                          </a:solidFill>
                        </a:rPr>
                        <a:t>Online partnership</a:t>
                      </a:r>
                      <a:endParaRPr lang="en-US" sz="12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AACB4"/>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39FA8"/>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EA5AE"/>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BBEC5"/>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chemeClr val="tx1"/>
                          </a:solidFill>
                        </a:rPr>
                        <a:t>OOH</a:t>
                      </a:r>
                      <a:endParaRPr lang="en-US" sz="1200" dirty="0"/>
                    </a:p>
                  </a:txBody>
                  <a:tcPr marL="27432" marR="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CB6BD"/>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2B0B8"/>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BBC2"/>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1B0B8"/>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p>
                  </a:txBody>
                  <a:tcPr marL="27432"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532120"/>
            <a:ext cx="11091672" cy="731520"/>
          </a:xfrm>
          <a:prstGeom prst="rect">
            <a:avLst/>
          </a:prstGeom>
          <a:noFill/>
          <a:ln/>
        </p:spPr>
        <p:txBody>
          <a:bodyPr wrap="square" lIns="0" tIns="0" rIns="0" bIns="0" rtlCol="0" anchor="t"/>
          <a:lstStyle/>
          <a:p>
            <a:pPr indent="0" marL="0">
              <a:buNone/>
            </a:pPr>
            <a:r>
              <a:rPr lang="en-US" sz="1400" dirty="0">
                <a:solidFill>
                  <a:schemeClr val="tx1"/>
                </a:solidFill>
              </a:rPr>
              <a:t>Darker = more spend that month. TV ran inside the Online partnership burst (spring 2023); in summer 2024 VOD, OLV, Social and RDM all ran together, during hot weather and heavy promotion. That overlap is why VOD and OLV are combined as Online video.</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960120"/>
          </a:xfrm>
          <a:prstGeom prst="rect">
            <a:avLst/>
          </a:prstGeom>
          <a:noFill/>
          <a:ln/>
        </p:spPr>
        <p:txBody>
          <a:bodyPr wrap="square" lIns="0" tIns="0" rIns="0" bIns="0" rtlCol="0" anchor="ctr"/>
          <a:lstStyle/>
          <a:p>
            <a:pPr algn="l" indent="0" marL="0">
              <a:buNone/>
            </a:pPr>
            <a:r>
              <a:rPr lang="en-US" sz="2800" b="1" dirty="0">
                <a:solidFill>
                  <a:schemeClr val="tx2"/>
                </a:solidFill>
              </a:rPr>
              <a:t>Variables tested and left out, and why</a:t>
            </a:r>
            <a:endParaRPr lang="en-US" sz="2800" dirty="0"/>
          </a:p>
        </p:txBody>
      </p:sp>
      <p:graphicFrame>
        <p:nvGraphicFramePr>
          <p:cNvPr id="15" name="Table: variables tested and left out, with reasons" descr="Table: variables tested and left out, with reasons"/>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firstRow="1" bandRow="1"/>
              <a:tblGrid>
                <a:gridCol w="2743200"/>
                <a:gridCol w="1005840"/>
                <a:gridCol w="731520"/>
                <a:gridCol w="6611112"/>
              </a:tblGrid>
              <a:tr h="457200">
                <a:tc>
                  <a:txBody>
                    <a:bodyPr/>
                    <a:lstStyle/>
                    <a:p>
                      <a:pPr algn="l" indent="0" marL="0">
                        <a:buNone/>
                      </a:pPr>
                      <a:r>
                        <a:rPr lang="en-US" sz="1300" b="1" dirty="0">
                          <a:solidFill>
                            <a:schemeClr val="bg1"/>
                          </a:solidFill>
                        </a:rPr>
                        <a:t>Variable</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300" b="1" dirty="0">
                          <a:solidFill>
                            <a:schemeClr val="bg1"/>
                          </a:solidFill>
                        </a:rPr>
                        <a:t>Coef.</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r" indent="0" marL="0">
                        <a:buNone/>
                      </a:pPr>
                      <a:r>
                        <a:rPr lang="en-US" sz="1300" b="1" dirty="0">
                          <a:solidFill>
                            <a:schemeClr val="bg1"/>
                          </a:solidFill>
                        </a:rPr>
                        <a:t>t</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c>
                  <a:txBody>
                    <a:bodyPr/>
                    <a:lstStyle/>
                    <a:p>
                      <a:pPr algn="l" indent="0" marL="0">
                        <a:buNone/>
                      </a:pPr>
                      <a:r>
                        <a:rPr lang="en-US" sz="1300" b="1" dirty="0">
                          <a:solidFill>
                            <a:schemeClr val="bg1"/>
                          </a:solidFill>
                        </a:rPr>
                        <a:t>Why it is out</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0B3C49"/>
                    </a:solidFill>
                  </a:tcPr>
                </a:tc>
              </a:tr>
              <a:tr h="457200">
                <a:tc>
                  <a:txBody>
                    <a:bodyPr/>
                    <a:lstStyle/>
                    <a:p>
                      <a:pPr indent="0" marL="0">
                        <a:buNone/>
                      </a:pPr>
                      <a:r>
                        <a:rPr lang="en-US" sz="1300" dirty="0">
                          <a:solidFill>
                            <a:schemeClr val="tx1"/>
                          </a:solidFill>
                        </a:rPr>
                        <a:t>Promo ACV distribution</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0.0000</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0.0</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indent="0" marL="0">
                        <a:buNone/>
                      </a:pPr>
                      <a:r>
                        <a:rPr lang="en-US" sz="1300" dirty="0">
                          <a:solidFill>
                            <a:schemeClr val="tx1"/>
                          </a:solidFill>
                        </a:rPr>
                        <a:t>No effect once distribution is in; promotions work through store reach</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457200">
                <a:tc>
                  <a:txBody>
                    <a:bodyPr/>
                    <a:lstStyle/>
                    <a:p>
                      <a:pPr indent="0" marL="0">
                        <a:buNone/>
                      </a:pPr>
                      <a:r>
                        <a:rPr lang="en-US" sz="1300" dirty="0">
                          <a:solidFill>
                            <a:schemeClr val="tx1"/>
                          </a:solidFill>
                        </a:rPr>
                        <a:t>Promo discount depth (%)</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-0.0004</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-0.8</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chemeClr val="tx1"/>
                          </a:solidFill>
                        </a:rPr>
                        <a:t>No effect: deeper discounts did not add volume</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300" dirty="0">
                          <a:solidFill>
                            <a:schemeClr val="tx1"/>
                          </a:solidFill>
                        </a:rPr>
                        <a:t>Linear trend (per year)</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-0.0627</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-2.6</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indent="0" marL="0">
                        <a:buNone/>
                      </a:pPr>
                      <a:r>
                        <a:rPr lang="en-US" sz="1300" dirty="0">
                          <a:solidFill>
                            <a:schemeClr val="tx1"/>
                          </a:solidFill>
                        </a:rPr>
                        <a:t>Collinear with relative price and has no business meaning (sensitivity only)</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457200">
                <a:tc>
                  <a:txBody>
                    <a:bodyPr/>
                    <a:lstStyle/>
                    <a:p>
                      <a:pPr indent="0" marL="0">
                        <a:buNone/>
                      </a:pPr>
                      <a:r>
                        <a:rPr lang="en-US" sz="1300" dirty="0">
                          <a:solidFill>
                            <a:schemeClr val="tx1"/>
                          </a:solidFill>
                        </a:rPr>
                        <a:t>Competitor A media</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0.0177</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2.6</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chemeClr val="tx1"/>
                          </a:solidFill>
                        </a:rPr>
                        <a:t>Positive (category halo?) but overlaps our 2024 video burst</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300" dirty="0">
                          <a:solidFill>
                            <a:schemeClr val="tx1"/>
                          </a:solidFill>
                        </a:rPr>
                        <a:t>Competitor B media</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0.0067</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0.7</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indent="0" marL="0">
                        <a:buNone/>
                      </a:pPr>
                      <a:r>
                        <a:rPr lang="en-US" sz="1300" dirty="0">
                          <a:solidFill>
                            <a:schemeClr val="tx1"/>
                          </a:solidFill>
                        </a:rPr>
                        <a:t>No effect</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457200">
                <a:tc>
                  <a:txBody>
                    <a:bodyPr/>
                    <a:lstStyle/>
                    <a:p>
                      <a:pPr indent="0" marL="0">
                        <a:buNone/>
                      </a:pPr>
                      <a:r>
                        <a:rPr lang="en-US" sz="1300" dirty="0">
                          <a:solidFill>
                            <a:schemeClr val="tx1"/>
                          </a:solidFill>
                        </a:rPr>
                        <a:t>Social media</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-0.0089</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-1.0</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chemeClr val="tx1"/>
                          </a:solidFill>
                        </a:rPr>
                        <a:t>Negative sign in every specification: not measurable</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300" dirty="0">
                          <a:solidFill>
                            <a:schemeClr val="tx1"/>
                          </a:solidFill>
                        </a:rPr>
                        <a:t>Search media</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-0.0191</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algn="r" indent="0" marL="0">
                        <a:buNone/>
                      </a:pPr>
                      <a:r>
                        <a:rPr lang="en-US" sz="1300" dirty="0">
                          <a:solidFill>
                            <a:schemeClr val="tx1"/>
                          </a:solidFill>
                        </a:rPr>
                        <a:t>-2.5</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c>
                  <a:txBody>
                    <a:bodyPr/>
                    <a:lstStyle/>
                    <a:p>
                      <a:pPr indent="0" marL="0">
                        <a:buNone/>
                      </a:pPr>
                      <a:r>
                        <a:rPr lang="en-US" sz="1300" dirty="0">
                          <a:solidFill>
                            <a:schemeClr val="tx1"/>
                          </a:solidFill>
                        </a:rPr>
                        <a:t>1% of budget; spurious negative sign</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EEF6F7"/>
                    </a:solidFill>
                  </a:tcPr>
                </a:tc>
              </a:tr>
              <a:tr h="457200">
                <a:tc>
                  <a:txBody>
                    <a:bodyPr/>
                    <a:lstStyle/>
                    <a:p>
                      <a:pPr indent="0" marL="0">
                        <a:buNone/>
                      </a:pPr>
                      <a:r>
                        <a:rPr lang="en-US" sz="1300" dirty="0">
                          <a:solidFill>
                            <a:schemeClr val="tx1"/>
                          </a:solidFill>
                        </a:rPr>
                        <a:t>RDM media</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-0.0029</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chemeClr val="tx1"/>
                          </a:solidFill>
                        </a:rPr>
                        <a:t>-0.1</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chemeClr val="tx1"/>
                          </a:solidFill>
                        </a:rPr>
                        <a:t>Under 1% of budget; no effect</a:t>
                      </a:r>
                      <a:endParaRPr lang="en-US" sz="13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0"/>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Water and Sun">
  <a:themeElements>
    <a:clrScheme name="Water and Sun">
      <a:dk1>
        <a:srgbClr val="13262F"/>
      </a:dk1>
      <a:lt1>
        <a:srgbClr val="FFFFFF"/>
      </a:lt1>
      <a:dk2>
        <a:srgbClr val="0B3C49"/>
      </a:dk2>
      <a:lt2>
        <a:srgbClr val="EEF6F7"/>
      </a:lt2>
      <a:accent1>
        <a:srgbClr val="1B7F8C"/>
      </a:accent1>
      <a:accent2>
        <a:srgbClr val="F2A541"/>
      </a:accent2>
      <a:accent3>
        <a:srgbClr val="E4572E"/>
      </a:accent3>
      <a:accent4>
        <a:srgbClr val="7FB7BE"/>
      </a:accent4>
      <a:accent5>
        <a:srgbClr val="9AA9AD"/>
      </a:accent5>
      <a:accent6>
        <a:srgbClr val="3D5A80"/>
      </a:accent6>
      <a:hlink>
        <a:srgbClr val="1B7F8C"/>
      </a:hlink>
      <a:folHlink>
        <a:srgbClr val="3D5A80"/>
      </a:folHlink>
    </a:clrScheme>
    <a:fontScheme name="Water and Su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Bottled water marketing mix model</dc:title>
  <dc:subject>PptxGenJS Presentation</dc:subject>
  <dc:creator>Yazan Alrefaai</dc:creator>
  <cp:lastModifiedBy>Yazan Alrefaai</cp:lastModifiedBy>
  <cp:revision>1</cp:revision>
  <dcterms:created xsi:type="dcterms:W3CDTF">2026-10-26T14:31:30Z</dcterms:created>
  <dcterms:modified xsi:type="dcterms:W3CDTF">2026-10-26T14:31:30Z</dcterms:modified>
</cp:coreProperties>
</file>